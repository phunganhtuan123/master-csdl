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charts/chart1.xml" ContentType="application/vnd.openxmlformats-officedocument.drawingml.chart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notesMasterIdLst>
    <p:notesMasterId r:id="rId18"/>
  </p:notesMasterIdLst>
  <p:sldSz cx="9144000" cy="6858000"/>
  <p:notesSz cx="68580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Mở đầu" id="{962c63bf-a760-10f2-833b-41f1e5c0bc21}">
          <p14:sldIdLst>
            <p14:sldId id="256"/>
            <p14:sldId id="257"/>
            <p14:sldId id="258"/>
            <p14:sldId id="259"/>
          </p14:sldIdLst>
        </p14:section>
        <p14:section name="Thiết kế" id="{4461e048-ad3d-8ba0-83a9-9f06785663d9}">
          <p14:sldIdLst>
            <p14:sldId id="260"/>
            <p14:sldId id="261"/>
          </p14:sldIdLst>
        </p14:section>
        <p14:section name="6 tính năng" id="{2c32b78b-a20e-b54e-9bb4-96daa42ce86c}">
          <p14:sldIdLst>
            <p14:sldId id="262"/>
            <p14:sldId id="263"/>
            <p14:sldId id="264"/>
            <p14:sldId id="265"/>
            <p14:sldId id="266"/>
            <p14:sldId id="267"/>
            <p14:sldId id="268"/>
          </p14:sldIdLst>
        </p14:section>
        <p14:section name="Ứng dụng &amp; kết quả" id="{7beeb413-7d5f-1776-1736-66da5a7df9d4}">
          <p14:sldIdLst>
            <p14:sldId id="269"/>
            <p14:sldId id="270"/>
          </p14:sldIdLst>
        </p14:section>
        <p14:section name="Kết luận" id="{8f72526f-e359-9eae-6884-94fa1b93362c}">
          <p14:sldIdLst>
            <p14:sldId id="271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notesMaster" Target="notesMasters/notesMaster1.xml"/><Relationship Id="rId19" Type="http://schemas.openxmlformats.org/officeDocument/2006/relationships/presProps" Target="presProps.xml"/><Relationship Id="rId20" Type="http://schemas.openxmlformats.org/officeDocument/2006/relationships/viewProps" Target="viewProps.xml"/><Relationship Id="rId21" Type="http://schemas.openxmlformats.org/officeDocument/2006/relationships/theme" Target="theme/theme1.xml"/><Relationship Id="rId22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Nhanh hơn (lần)</c:v>
                </c:pt>
              </c:strCache>
            </c:strRef>
          </c:tx>
          <c:spPr>
            <a:solidFill>
              <a:srgbClr val="2A10B4"/>
            </a:solidFill>
            <a:effectLst/>
          </c:spPr>
          <c:invertIfNegative val="0"/>
          <c:dLbls>
            <c:numFmt formatCode="0.#&quot;×&quot;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1A1A1A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Sheet1!$A$2:$A$9</c:f>
              <c:multiLvlStrCache>
                <c:ptCount val="8"/>
                <c:lvl>
                  <c:pt idx="0">
                    <c:v>Materialized view</c:v>
                  </c:pt>
                  <c:pt idx="1">
                    <c:v>Partial index</c:v>
                  </c:pt>
                  <c:pt idx="2">
                    <c:v>Covering index</c:v>
                  </c:pt>
                  <c:pt idx="3">
                    <c:v>JSONB @&gt; (GIN)</c:v>
                  </c:pt>
                  <c:pt idx="4">
                    <c:v>Partition pruning</c:v>
                  </c:pt>
                  <c:pt idx="5">
                    <c:v>Full-text (GIN)</c:v>
                  </c:pt>
                  <c:pt idx="6">
                    <c:v>pgvector HNSW</c:v>
                  </c:pt>
                  <c:pt idx="7">
                    <c:v>Trigram</c:v>
                  </c:pt>
                </c:lvl>
              </c:multiLvlStrCache>
            </c:multiLvlStrRef>
          </c:cat>
          <c:val>
            <c:numRef>
              <c:f>Sheet1!$B$2:$B$9</c:f>
              <c:numCache>
                <c:formatCode>General</c:formatCode>
                <c:ptCount val="8"/>
                <c:pt idx="0">
                  <c:v>1077</c:v>
                </c:pt>
                <c:pt idx="1">
                  <c:v>484</c:v>
                </c:pt>
                <c:pt idx="2">
                  <c:v>251</c:v>
                </c:pt>
                <c:pt idx="3">
                  <c:v>34</c:v>
                </c:pt>
                <c:pt idx="4">
                  <c:v>20</c:v>
                </c:pt>
                <c:pt idx="5">
                  <c:v>9.6</c:v>
                </c:pt>
                <c:pt idx="6">
                  <c:v>7.4</c:v>
                </c:pt>
                <c:pt idx="7">
                  <c:v>2.6</c:v>
                </c:pt>
              </c:numCache>
            </c:numRef>
          </c:val>
        </c:ser>
        <c:dLbls>
          <c:numFmt formatCode="0.#&quot;×&quot;" sourceLinked="0"/>
          <c:txPr>
            <a:bodyPr/>
            <a:lstStyle/>
            <a:p>
              <a:pPr>
                <a:defRPr b="0" i="0" strike="noStrike" sz="1200" u="none">
                  <a:solidFill>
                    <a:srgbClr val="1A1A1A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1A1A1A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logBase val="10"/>
          <c:orientation val="minMax"/>
        </c:scaling>
        <c:delete val="1"/>
        <c:axPos val="b"/>
        <c:majorGridlines>
          <c:spPr>
            <a:ln w="12700" cap="flat">
              <a:solidFill>
                <a:srgbClr val="E0E0E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66666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Giới thiệu nhóm và đề tài.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products: attributes JSONB, search_vec tsvector generated, embedding vector(256). orders: partition theo tháng, total generated.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2-1.jpg"/><Relationship Id="rId2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HUTECH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jewelry-shop-postgres/docs/img/tpl/hutech-logo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6576" y="27432"/>
            <a:ext cx="457200" cy="4572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530352" y="45720"/>
            <a:ext cx="3657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HUTECH University</a:t>
            </a:r>
            <a:endParaRPr lang="en-US" sz="1800" dirty="0"/>
          </a:p>
        </p:txBody>
      </p:sp>
      <p:sp>
        <p:nvSpPr>
          <p:cNvPr id="4" name="Shape 1"/>
          <p:cNvSpPr/>
          <p:nvPr/>
        </p:nvSpPr>
        <p:spPr>
          <a:xfrm>
            <a:off x="502920" y="457200"/>
            <a:ext cx="8641080" cy="749808"/>
          </a:xfrm>
          <a:prstGeom prst="rect">
            <a:avLst/>
          </a:prstGeom>
          <a:solidFill>
            <a:srgbClr val="2A10B4"/>
          </a:solidFill>
          <a:ln/>
        </p:spPr>
      </p:sp>
      <p:sp>
        <p:nvSpPr>
          <p:cNvPr id="5" name="Shape 2"/>
          <p:cNvSpPr/>
          <p:nvPr/>
        </p:nvSpPr>
        <p:spPr>
          <a:xfrm>
            <a:off x="0" y="1207008"/>
            <a:ext cx="502920" cy="5650992"/>
          </a:xfrm>
          <a:prstGeom prst="rect">
            <a:avLst/>
          </a:prstGeom>
          <a:solidFill>
            <a:srgbClr val="2A10B4"/>
          </a:solidFill>
          <a:ln/>
        </p:spPr>
      </p:sp>
      <p:sp>
        <p:nvSpPr>
          <p:cNvPr id="6" name="Text 3"/>
          <p:cNvSpPr/>
          <p:nvPr>
            <p:ph idx="104" type="title" hasCustomPrompt="1"/>
          </p:nvPr>
        </p:nvSpPr>
        <p:spPr>
          <a:xfrm>
            <a:off x="640080" y="457200"/>
            <a:ext cx="8412480" cy="749808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defRPr>
            </a:lvl1pPr>
          </a:lstStyle>
          <a:p>
            <a:pPr algn="l" indent="0" marL="0">
              <a:buNone/>
            </a:pPr>
            <a:endParaRPr lang="en-US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503920" y="649224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A1A1A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503920" y="649224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A1A1A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jpg"/><Relationship Id="rId2" Type="http://schemas.openxmlformats.org/officeDocument/2006/relationships/image" Target="../media/image-1-2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jp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jp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jp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jp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jp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jp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jpg"/><Relationship Id="rId2" Type="http://schemas.openxmlformats.org/officeDocument/2006/relationships/image" Target="../media/image-12-2.jp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jpg"/><Relationship Id="rId2" Type="http://schemas.openxmlformats.org/officeDocument/2006/relationships/image" Target="../media/image-14-2.jpg"/><Relationship Id="rId3" Type="http://schemas.openxmlformats.org/officeDocument/2006/relationships/image" Target="../media/image-14-3.jpg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building" descr="/home/claude/jewelry-shop-postgres/docs/img/tpl/building.jpg">    </p:cNvPr>
          <p:cNvPicPr>
            <a:picLocks noChangeAspect="1"/>
          </p:cNvPicPr>
          <p:nvPr/>
        </p:nvPicPr>
        <p:blipFill>
          <a:blip r:embed="rId1">
            <a:alphaModFix amt="45000"/>
          </a:blip>
          <a:srcRect l="0" r="0" t="0" b="0"/>
          <a:stretch/>
        </p:blipFill>
        <p:spPr>
          <a:xfrm>
            <a:off x="0" y="1645920"/>
            <a:ext cx="1691640" cy="5212080"/>
          </a:xfrm>
          <a:prstGeom prst="rect">
            <a:avLst/>
          </a:prstGeom>
        </p:spPr>
      </p:pic>
      <p:pic>
        <p:nvPicPr>
          <p:cNvPr id="3" name="logo" descr="/home/claude/jewelry-shop-postgres/docs/img/tpl/hutech-logo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" y="91440"/>
            <a:ext cx="1463040" cy="1463040"/>
          </a:xfrm>
          <a:prstGeom prst="rect">
            <a:avLst/>
          </a:prstGeom>
        </p:spPr>
      </p:pic>
      <p:sp>
        <p:nvSpPr>
          <p:cNvPr id="4" name="Text 0"/>
          <p:cNvSpPr txBox="1"/>
          <p:nvPr/>
        </p:nvSpPr>
        <p:spPr>
          <a:xfrm>
            <a:off x="1874520" y="548640"/>
            <a:ext cx="5486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HUTECH University</a:t>
            </a:r>
            <a:endParaRPr lang="en-US" sz="3000" dirty="0"/>
          </a:p>
        </p:txBody>
      </p:sp>
      <p:sp>
        <p:nvSpPr>
          <p:cNvPr id="5" name="cover-bg"/>
          <p:cNvSpPr/>
          <p:nvPr/>
        </p:nvSpPr>
        <p:spPr>
          <a:xfrm>
            <a:off x="1691640" y="1645920"/>
            <a:ext cx="7452360" cy="5212080"/>
          </a:xfrm>
          <a:prstGeom prst="rect">
            <a:avLst/>
          </a:prstGeom>
          <a:solidFill>
            <a:srgbClr val="2A10B4"/>
          </a:solidFill>
          <a:ln w="12700">
            <a:solidFill>
              <a:srgbClr val="2A10B4"/>
            </a:solidFill>
            <a:prstDash val="solid"/>
          </a:ln>
        </p:spPr>
      </p:sp>
      <p:sp>
        <p:nvSpPr>
          <p:cNvPr id="6" name="Text 2"/>
          <p:cNvSpPr txBox="1"/>
          <p:nvPr/>
        </p:nvSpPr>
        <p:spPr>
          <a:xfrm>
            <a:off x="1920240" y="2103120"/>
            <a:ext cx="7040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spc="200" kern="0" dirty="0">
                <a:solidFill>
                  <a:srgbClr val="FFD5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TIỂU LUẬN MÔN CƠ SỞ DỮ LIỆU</a:t>
            </a:r>
            <a:endParaRPr lang="en-US" sz="1600" dirty="0"/>
          </a:p>
        </p:txBody>
      </p:sp>
      <p:sp>
        <p:nvSpPr>
          <p:cNvPr id="7" name="Text 3"/>
          <p:cNvSpPr txBox="1"/>
          <p:nvPr/>
        </p:nvSpPr>
        <p:spPr>
          <a:xfrm>
            <a:off x="1920240" y="2651760"/>
            <a:ext cx="70408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XÂY DỰNG HỆ THỐNG BÁN HÀNG TRANG SỨC VỚI POSTGRESQL</a:t>
            </a:r>
            <a:endParaRPr lang="en-US" sz="2800" dirty="0"/>
          </a:p>
        </p:txBody>
      </p:sp>
      <p:sp>
        <p:nvSpPr>
          <p:cNvPr id="8" name="Text 4"/>
          <p:cNvSpPr txBox="1"/>
          <p:nvPr/>
        </p:nvSpPr>
        <p:spPr>
          <a:xfrm>
            <a:off x="1920240" y="4480560"/>
            <a:ext cx="7040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D5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Nhóm 6</a:t>
            </a:r>
            <a:endParaRPr lang="en-US" sz="2000" dirty="0"/>
          </a:p>
        </p:txBody>
      </p:sp>
      <p:sp>
        <p:nvSpPr>
          <p:cNvPr id="9" name="Text 5"/>
          <p:cNvSpPr txBox="1"/>
          <p:nvPr/>
        </p:nvSpPr>
        <p:spPr>
          <a:xfrm>
            <a:off x="1920240" y="4937760"/>
            <a:ext cx="70408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Phùng Anh Tuấn – 2541864024</a:t>
            </a:r>
            <a:endParaRPr lang="en-US" sz="1800" dirty="0"/>
          </a:p>
          <a:p>
            <a:pPr algn="ctr"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Võ Bùi Duy Thông – 2541864019</a:t>
            </a:r>
            <a:endParaRPr lang="en-US" sz="1800" dirty="0"/>
          </a:p>
        </p:txBody>
      </p:sp>
      <p:sp>
        <p:nvSpPr>
          <p:cNvPr id="10" name="Text 6"/>
          <p:cNvSpPr txBox="1"/>
          <p:nvPr/>
        </p:nvSpPr>
        <p:spPr>
          <a:xfrm>
            <a:off x="1920240" y="5989320"/>
            <a:ext cx="7040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DDDD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GVHD: ……………………………   ·   Tháng 10/2026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3"/>
          <p:cNvSpPr/>
          <p:nvPr>
            <p:ph idx="104" type="title" hasCustomPrompt="1"/>
          </p:nvPr>
        </p:nvSpPr>
        <p:spPr>
          <a:xfrm>
            <a:off x="640080" y="457200"/>
            <a:ext cx="841248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Nội dung</a:t>
            </a:r>
            <a:endParaRPr lang="en-US" sz="2800" dirty="0"/>
          </a:p>
        </p:txBody>
      </p:sp>
      <p:sp>
        <p:nvSpPr>
          <p:cNvPr id="3" name="pill"/>
          <p:cNvSpPr/>
          <p:nvPr/>
        </p:nvSpPr>
        <p:spPr>
          <a:xfrm>
            <a:off x="1188720" y="1508760"/>
            <a:ext cx="6949440" cy="502920"/>
          </a:xfrm>
          <a:prstGeom prst="roundRect">
            <a:avLst>
              <a:gd name="adj" fmla="val 21818"/>
            </a:avLst>
          </a:prstGeom>
          <a:solidFill>
            <a:srgbClr val="FFFFFF"/>
          </a:solidFill>
          <a:ln w="12700">
            <a:solidFill>
              <a:srgbClr val="2A10B4"/>
            </a:solidFill>
            <a:prstDash val="solid"/>
          </a:ln>
          <a:effectLst>
            <a:outerShdw sx="100000" sy="100000" kx="0" ky="0" algn="bl" rotWithShape="0" blurRad="38100" dist="25400" dir="2700000">
              <a:srgbClr val="000000">
                <a:alpha val="25000"/>
              </a:srgbClr>
            </a:outerShdw>
          </a:effectLst>
        </p:spPr>
      </p:sp>
      <p:sp>
        <p:nvSpPr>
          <p:cNvPr id="4" name="pill-dot"/>
          <p:cNvSpPr/>
          <p:nvPr/>
        </p:nvSpPr>
        <p:spPr>
          <a:xfrm>
            <a:off x="1280160" y="1581912"/>
            <a:ext cx="356616" cy="356616"/>
          </a:xfrm>
          <a:prstGeom prst="ellipse">
            <a:avLst/>
          </a:prstGeom>
          <a:solidFill>
            <a:srgbClr val="2A10B4"/>
          </a:solidFill>
          <a:ln w="12700">
            <a:solidFill>
              <a:srgbClr val="2A10B4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280160" y="1581912"/>
            <a:ext cx="356616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1737360" y="1508760"/>
            <a:ext cx="630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Vì sao chọn PostgreSQL</a:t>
            </a:r>
            <a:endParaRPr lang="en-US" sz="1500" dirty="0"/>
          </a:p>
        </p:txBody>
      </p:sp>
      <p:sp>
        <p:nvSpPr>
          <p:cNvPr id="7" name="pill"/>
          <p:cNvSpPr/>
          <p:nvPr/>
        </p:nvSpPr>
        <p:spPr>
          <a:xfrm>
            <a:off x="1188720" y="2286000"/>
            <a:ext cx="6949440" cy="502920"/>
          </a:xfrm>
          <a:prstGeom prst="roundRect">
            <a:avLst>
              <a:gd name="adj" fmla="val 21818"/>
            </a:avLst>
          </a:prstGeom>
          <a:solidFill>
            <a:srgbClr val="FFFFFF"/>
          </a:solidFill>
          <a:ln w="12700">
            <a:solidFill>
              <a:srgbClr val="2A10B4"/>
            </a:solidFill>
            <a:prstDash val="solid"/>
          </a:ln>
          <a:effectLst>
            <a:outerShdw sx="100000" sy="100000" kx="0" ky="0" algn="bl" rotWithShape="0" blurRad="38100" dist="25400" dir="2700000">
              <a:srgbClr val="000000">
                <a:alpha val="25000"/>
              </a:srgbClr>
            </a:outerShdw>
          </a:effectLst>
        </p:spPr>
      </p:sp>
      <p:sp>
        <p:nvSpPr>
          <p:cNvPr id="8" name="pill-dot"/>
          <p:cNvSpPr/>
          <p:nvPr/>
        </p:nvSpPr>
        <p:spPr>
          <a:xfrm>
            <a:off x="1280160" y="2359152"/>
            <a:ext cx="356616" cy="356616"/>
          </a:xfrm>
          <a:prstGeom prst="ellipse">
            <a:avLst/>
          </a:prstGeom>
          <a:solidFill>
            <a:srgbClr val="2A10B4"/>
          </a:solidFill>
          <a:ln w="12700">
            <a:solidFill>
              <a:srgbClr val="2A10B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1280160" y="2359152"/>
            <a:ext cx="356616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300" dirty="0"/>
          </a:p>
        </p:txBody>
      </p:sp>
      <p:sp>
        <p:nvSpPr>
          <p:cNvPr id="10" name="Text 8"/>
          <p:cNvSpPr txBox="1"/>
          <p:nvPr/>
        </p:nvSpPr>
        <p:spPr>
          <a:xfrm>
            <a:off x="1737360" y="2286000"/>
            <a:ext cx="630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Kiến trúc hệ thống &amp; thiết kế CSDL</a:t>
            </a:r>
            <a:endParaRPr lang="en-US" sz="1500" dirty="0"/>
          </a:p>
        </p:txBody>
      </p:sp>
      <p:sp>
        <p:nvSpPr>
          <p:cNvPr id="11" name="pill"/>
          <p:cNvSpPr/>
          <p:nvPr/>
        </p:nvSpPr>
        <p:spPr>
          <a:xfrm>
            <a:off x="1188720" y="3063240"/>
            <a:ext cx="6949440" cy="502920"/>
          </a:xfrm>
          <a:prstGeom prst="roundRect">
            <a:avLst>
              <a:gd name="adj" fmla="val 21818"/>
            </a:avLst>
          </a:prstGeom>
          <a:solidFill>
            <a:srgbClr val="FFFFFF"/>
          </a:solidFill>
          <a:ln w="12700">
            <a:solidFill>
              <a:srgbClr val="2A10B4"/>
            </a:solidFill>
            <a:prstDash val="solid"/>
          </a:ln>
          <a:effectLst>
            <a:outerShdw sx="100000" sy="100000" kx="0" ky="0" algn="bl" rotWithShape="0" blurRad="38100" dist="25400" dir="2700000">
              <a:srgbClr val="000000">
                <a:alpha val="25000"/>
              </a:srgbClr>
            </a:outerShdw>
          </a:effectLst>
        </p:spPr>
      </p:sp>
      <p:sp>
        <p:nvSpPr>
          <p:cNvPr id="12" name="pill-dot"/>
          <p:cNvSpPr/>
          <p:nvPr/>
        </p:nvSpPr>
        <p:spPr>
          <a:xfrm>
            <a:off x="1280160" y="3136392"/>
            <a:ext cx="356616" cy="356616"/>
          </a:xfrm>
          <a:prstGeom prst="ellipse">
            <a:avLst/>
          </a:prstGeom>
          <a:solidFill>
            <a:srgbClr val="2A10B4"/>
          </a:solidFill>
          <a:ln w="12700">
            <a:solidFill>
              <a:srgbClr val="2A10B4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1280160" y="3136392"/>
            <a:ext cx="356616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1737360" y="3063240"/>
            <a:ext cx="630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 tính năng nổi bật gắn với nghiệp vụ</a:t>
            </a:r>
            <a:endParaRPr lang="en-US" sz="1500" dirty="0"/>
          </a:p>
        </p:txBody>
      </p:sp>
      <p:sp>
        <p:nvSpPr>
          <p:cNvPr id="15" name="pill"/>
          <p:cNvSpPr/>
          <p:nvPr/>
        </p:nvSpPr>
        <p:spPr>
          <a:xfrm>
            <a:off x="1188720" y="3840480"/>
            <a:ext cx="6949440" cy="502920"/>
          </a:xfrm>
          <a:prstGeom prst="roundRect">
            <a:avLst>
              <a:gd name="adj" fmla="val 21818"/>
            </a:avLst>
          </a:prstGeom>
          <a:solidFill>
            <a:srgbClr val="FFFFFF"/>
          </a:solidFill>
          <a:ln w="12700">
            <a:solidFill>
              <a:srgbClr val="2A10B4"/>
            </a:solidFill>
            <a:prstDash val="solid"/>
          </a:ln>
          <a:effectLst>
            <a:outerShdw sx="100000" sy="100000" kx="0" ky="0" algn="bl" rotWithShape="0" blurRad="38100" dist="25400" dir="2700000">
              <a:srgbClr val="000000">
                <a:alpha val="25000"/>
              </a:srgbClr>
            </a:outerShdw>
          </a:effectLst>
        </p:spPr>
      </p:sp>
      <p:sp>
        <p:nvSpPr>
          <p:cNvPr id="16" name="pill-dot"/>
          <p:cNvSpPr/>
          <p:nvPr/>
        </p:nvSpPr>
        <p:spPr>
          <a:xfrm>
            <a:off x="1280160" y="3913632"/>
            <a:ext cx="356616" cy="356616"/>
          </a:xfrm>
          <a:prstGeom prst="ellipse">
            <a:avLst/>
          </a:prstGeom>
          <a:solidFill>
            <a:srgbClr val="2A10B4"/>
          </a:solidFill>
          <a:ln w="12700">
            <a:solidFill>
              <a:srgbClr val="2A10B4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1280160" y="3913632"/>
            <a:ext cx="356616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300" dirty="0"/>
          </a:p>
        </p:txBody>
      </p:sp>
      <p:sp>
        <p:nvSpPr>
          <p:cNvPr id="18" name="Text 16"/>
          <p:cNvSpPr txBox="1"/>
          <p:nvPr/>
        </p:nvSpPr>
        <p:spPr>
          <a:xfrm>
            <a:off x="1737360" y="3840480"/>
            <a:ext cx="630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Các loại index đặc biệt</a:t>
            </a:r>
            <a:endParaRPr lang="en-US" sz="1500" dirty="0"/>
          </a:p>
        </p:txBody>
      </p:sp>
      <p:sp>
        <p:nvSpPr>
          <p:cNvPr id="19" name="pill"/>
          <p:cNvSpPr/>
          <p:nvPr/>
        </p:nvSpPr>
        <p:spPr>
          <a:xfrm>
            <a:off x="1188720" y="4617720"/>
            <a:ext cx="6949440" cy="502920"/>
          </a:xfrm>
          <a:prstGeom prst="roundRect">
            <a:avLst>
              <a:gd name="adj" fmla="val 21818"/>
            </a:avLst>
          </a:prstGeom>
          <a:solidFill>
            <a:srgbClr val="FFFFFF"/>
          </a:solidFill>
          <a:ln w="12700">
            <a:solidFill>
              <a:srgbClr val="2A10B4"/>
            </a:solidFill>
            <a:prstDash val="solid"/>
          </a:ln>
          <a:effectLst>
            <a:outerShdw sx="100000" sy="100000" kx="0" ky="0" algn="bl" rotWithShape="0" blurRad="38100" dist="25400" dir="2700000">
              <a:srgbClr val="000000">
                <a:alpha val="25000"/>
              </a:srgbClr>
            </a:outerShdw>
          </a:effectLst>
        </p:spPr>
      </p:sp>
      <p:sp>
        <p:nvSpPr>
          <p:cNvPr id="20" name="pill-dot"/>
          <p:cNvSpPr/>
          <p:nvPr/>
        </p:nvSpPr>
        <p:spPr>
          <a:xfrm>
            <a:off x="1280160" y="4690872"/>
            <a:ext cx="356616" cy="356616"/>
          </a:xfrm>
          <a:prstGeom prst="ellipse">
            <a:avLst/>
          </a:prstGeom>
          <a:solidFill>
            <a:srgbClr val="2A10B4"/>
          </a:solidFill>
          <a:ln w="12700">
            <a:solidFill>
              <a:srgbClr val="2A10B4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1280160" y="4690872"/>
            <a:ext cx="356616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300" dirty="0"/>
          </a:p>
        </p:txBody>
      </p:sp>
      <p:sp>
        <p:nvSpPr>
          <p:cNvPr id="22" name="Text 20"/>
          <p:cNvSpPr txBox="1"/>
          <p:nvPr/>
        </p:nvSpPr>
        <p:spPr>
          <a:xfrm>
            <a:off x="1737360" y="4617720"/>
            <a:ext cx="630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Ứng dụng demo &amp; benchmark</a:t>
            </a:r>
            <a:endParaRPr lang="en-US" sz="1500" dirty="0"/>
          </a:p>
        </p:txBody>
      </p:sp>
      <p:sp>
        <p:nvSpPr>
          <p:cNvPr id="23" name="pill"/>
          <p:cNvSpPr/>
          <p:nvPr/>
        </p:nvSpPr>
        <p:spPr>
          <a:xfrm>
            <a:off x="1188720" y="5394960"/>
            <a:ext cx="6949440" cy="502920"/>
          </a:xfrm>
          <a:prstGeom prst="roundRect">
            <a:avLst>
              <a:gd name="adj" fmla="val 21818"/>
            </a:avLst>
          </a:prstGeom>
          <a:solidFill>
            <a:srgbClr val="FFFFFF"/>
          </a:solidFill>
          <a:ln w="12700">
            <a:solidFill>
              <a:srgbClr val="2A10B4"/>
            </a:solidFill>
            <a:prstDash val="solid"/>
          </a:ln>
          <a:effectLst>
            <a:outerShdw sx="100000" sy="100000" kx="0" ky="0" algn="bl" rotWithShape="0" blurRad="38100" dist="25400" dir="2700000">
              <a:srgbClr val="000000">
                <a:alpha val="25000"/>
              </a:srgbClr>
            </a:outerShdw>
          </a:effectLst>
        </p:spPr>
      </p:sp>
      <p:sp>
        <p:nvSpPr>
          <p:cNvPr id="24" name="pill-dot"/>
          <p:cNvSpPr/>
          <p:nvPr/>
        </p:nvSpPr>
        <p:spPr>
          <a:xfrm>
            <a:off x="1280160" y="5468112"/>
            <a:ext cx="356616" cy="356616"/>
          </a:xfrm>
          <a:prstGeom prst="ellipse">
            <a:avLst/>
          </a:prstGeom>
          <a:solidFill>
            <a:srgbClr val="2A10B4"/>
          </a:solidFill>
          <a:ln w="12700">
            <a:solidFill>
              <a:srgbClr val="2A10B4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1280160" y="5468112"/>
            <a:ext cx="356616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300" dirty="0"/>
          </a:p>
        </p:txBody>
      </p:sp>
      <p:sp>
        <p:nvSpPr>
          <p:cNvPr id="26" name="Text 24"/>
          <p:cNvSpPr txBox="1"/>
          <p:nvPr/>
        </p:nvSpPr>
        <p:spPr>
          <a:xfrm>
            <a:off x="1737360" y="5394960"/>
            <a:ext cx="630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Kết luận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503920" y="649224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A1A1A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3"/>
          <p:cNvSpPr/>
          <p:nvPr>
            <p:ph idx="104" type="title" hasCustomPrompt="1"/>
          </p:nvPr>
        </p:nvSpPr>
        <p:spPr>
          <a:xfrm>
            <a:off x="640080" y="457200"/>
            <a:ext cx="841248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Vì sao chọn PostgreSQL?</a:t>
            </a:r>
            <a:endParaRPr lang="en-US" sz="2800" dirty="0"/>
          </a:p>
        </p:txBody>
      </p:sp>
      <p:sp>
        <p:nvSpPr>
          <p:cNvPr id="3" name="stat-bg"/>
          <p:cNvSpPr/>
          <p:nvPr/>
        </p:nvSpPr>
        <p:spPr>
          <a:xfrm>
            <a:off x="731520" y="1463040"/>
            <a:ext cx="1920240" cy="1325880"/>
          </a:xfrm>
          <a:prstGeom prst="rect">
            <a:avLst/>
          </a:prstGeom>
          <a:solidFill>
            <a:srgbClr val="EEF0FA"/>
          </a:solidFill>
          <a:ln w="12700">
            <a:solidFill>
              <a:srgbClr val="EEF0FA"/>
            </a:solidFill>
            <a:prstDash val="solid"/>
          </a:ln>
        </p:spPr>
      </p:sp>
      <p:sp>
        <p:nvSpPr>
          <p:cNvPr id="4" name="stat-num"/>
          <p:cNvSpPr txBox="1"/>
          <p:nvPr/>
        </p:nvSpPr>
        <p:spPr>
          <a:xfrm>
            <a:off x="731520" y="1536192"/>
            <a:ext cx="1920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2A10B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#4</a:t>
            </a:r>
            <a:endParaRPr lang="en-US" sz="3200" dirty="0"/>
          </a:p>
        </p:txBody>
      </p:sp>
      <p:sp>
        <p:nvSpPr>
          <p:cNvPr id="5" name="stat-label"/>
          <p:cNvSpPr txBox="1"/>
          <p:nvPr/>
        </p:nvSpPr>
        <p:spPr>
          <a:xfrm>
            <a:off x="822960" y="2240280"/>
            <a:ext cx="1737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DB-Engines (sau Oracle,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MySQL, SQL Server)</a:t>
            </a:r>
            <a:endParaRPr lang="en-US" sz="1200" dirty="0"/>
          </a:p>
        </p:txBody>
      </p:sp>
      <p:sp>
        <p:nvSpPr>
          <p:cNvPr id="6" name="stat-bg"/>
          <p:cNvSpPr/>
          <p:nvPr/>
        </p:nvSpPr>
        <p:spPr>
          <a:xfrm>
            <a:off x="2807208" y="1463040"/>
            <a:ext cx="1920240" cy="1325880"/>
          </a:xfrm>
          <a:prstGeom prst="rect">
            <a:avLst/>
          </a:prstGeom>
          <a:solidFill>
            <a:srgbClr val="EEF0FA"/>
          </a:solidFill>
          <a:ln w="12700">
            <a:solidFill>
              <a:srgbClr val="EEF0FA"/>
            </a:solidFill>
            <a:prstDash val="solid"/>
          </a:ln>
        </p:spPr>
      </p:sp>
      <p:sp>
        <p:nvSpPr>
          <p:cNvPr id="7" name="stat-num"/>
          <p:cNvSpPr txBox="1"/>
          <p:nvPr/>
        </p:nvSpPr>
        <p:spPr>
          <a:xfrm>
            <a:off x="2807208" y="1536192"/>
            <a:ext cx="1920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1E8E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+21,97</a:t>
            </a:r>
            <a:endParaRPr lang="en-US" sz="3200" dirty="0"/>
          </a:p>
        </p:txBody>
      </p:sp>
      <p:sp>
        <p:nvSpPr>
          <p:cNvPr id="8" name="stat-label"/>
          <p:cNvSpPr txBox="1"/>
          <p:nvPr/>
        </p:nvSpPr>
        <p:spPr>
          <a:xfrm>
            <a:off x="2898648" y="2240280"/>
            <a:ext cx="1737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điểm nửa đầu 2026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tăng mạnh nhất top 5</a:t>
            </a:r>
            <a:endParaRPr lang="en-US" sz="1200" dirty="0"/>
          </a:p>
        </p:txBody>
      </p:sp>
      <p:sp>
        <p:nvSpPr>
          <p:cNvPr id="9" name="stat-bg"/>
          <p:cNvSpPr/>
          <p:nvPr/>
        </p:nvSpPr>
        <p:spPr>
          <a:xfrm>
            <a:off x="4882896" y="1463040"/>
            <a:ext cx="1920240" cy="1325880"/>
          </a:xfrm>
          <a:prstGeom prst="rect">
            <a:avLst/>
          </a:prstGeom>
          <a:solidFill>
            <a:srgbClr val="EEF0FA"/>
          </a:solidFill>
          <a:ln w="12700">
            <a:solidFill>
              <a:srgbClr val="EEF0FA"/>
            </a:solidFill>
            <a:prstDash val="solid"/>
          </a:ln>
        </p:spPr>
      </p:sp>
      <p:sp>
        <p:nvSpPr>
          <p:cNvPr id="10" name="stat-num"/>
          <p:cNvSpPr txBox="1"/>
          <p:nvPr/>
        </p:nvSpPr>
        <p:spPr>
          <a:xfrm>
            <a:off x="4882896" y="1536192"/>
            <a:ext cx="1920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0B72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 lần</a:t>
            </a:r>
            <a:endParaRPr lang="en-US" sz="3200" dirty="0"/>
          </a:p>
        </p:txBody>
      </p:sp>
      <p:sp>
        <p:nvSpPr>
          <p:cNvPr id="11" name="stat-label"/>
          <p:cNvSpPr txBox="1"/>
          <p:nvPr/>
        </p:nvSpPr>
        <p:spPr>
          <a:xfrm>
            <a:off x="4974336" y="2240280"/>
            <a:ext cx="1737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DBMS of the Year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2017 · 2018 · 2020 · 2023</a:t>
            </a:r>
            <a:endParaRPr lang="en-US" sz="1200" dirty="0"/>
          </a:p>
        </p:txBody>
      </p:sp>
      <p:sp>
        <p:nvSpPr>
          <p:cNvPr id="12" name="stat-bg"/>
          <p:cNvSpPr/>
          <p:nvPr/>
        </p:nvSpPr>
        <p:spPr>
          <a:xfrm>
            <a:off x="6958584" y="1463040"/>
            <a:ext cx="1911096" cy="1325880"/>
          </a:xfrm>
          <a:prstGeom prst="rect">
            <a:avLst/>
          </a:prstGeom>
          <a:solidFill>
            <a:srgbClr val="EEF0FA"/>
          </a:solidFill>
          <a:ln w="12700">
            <a:solidFill>
              <a:srgbClr val="EEF0FA"/>
            </a:solidFill>
            <a:prstDash val="solid"/>
          </a:ln>
        </p:spPr>
      </p:sp>
      <p:sp>
        <p:nvSpPr>
          <p:cNvPr id="13" name="stat-num"/>
          <p:cNvSpPr txBox="1"/>
          <p:nvPr/>
        </p:nvSpPr>
        <p:spPr>
          <a:xfrm>
            <a:off x="6958584" y="1536192"/>
            <a:ext cx="1911096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C628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100%</a:t>
            </a:r>
            <a:endParaRPr lang="en-US" sz="3200" dirty="0"/>
          </a:p>
        </p:txBody>
      </p:sp>
      <p:sp>
        <p:nvSpPr>
          <p:cNvPr id="14" name="stat-label"/>
          <p:cNvSpPr txBox="1"/>
          <p:nvPr/>
        </p:nvSpPr>
        <p:spPr>
          <a:xfrm>
            <a:off x="7050024" y="2240280"/>
            <a:ext cx="172821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mã nguồn mở, không có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bản Enterprise thu phí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731520" y="3063240"/>
            <a:ext cx="8138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2A10B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CSDL quan hệ + đa mô hình trong một hệ thống</a:t>
            </a:r>
            <a:endParaRPr lang="en-US" sz="2000" dirty="0"/>
          </a:p>
        </p:txBody>
      </p:sp>
      <p:sp>
        <p:nvSpPr>
          <p:cNvPr id="16" name="bullets"/>
          <p:cNvSpPr txBox="1"/>
          <p:nvPr/>
        </p:nvSpPr>
        <p:spPr>
          <a:xfrm>
            <a:off x="731520" y="3611880"/>
            <a:ext cx="813816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7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JSONB, mảng, full-text search, pgvector… ngay trong SQL chuẩn</a:t>
            </a:r>
            <a:endParaRPr lang="en-US" sz="17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7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 loại index: B-tree, Hash, GIN, GiST, SP-GiST, BRIN</a:t>
            </a:r>
            <a:endParaRPr lang="en-US" sz="17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7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Partition khai báo, materialized view, trigger, PL/pgSQL, LISTEN/NOTIFY</a:t>
            </a:r>
            <a:endParaRPr lang="en-US" sz="17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7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Nhiều nhóm cùng chọn PostgreSQL → nhóm 6 làm theo cách: mỗi tính năng gắn 1 nghiệp vụ thật và có số đo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503920" y="649224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A1A1A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3"/>
          <p:cNvSpPr/>
          <p:nvPr>
            <p:ph idx="104" type="title" hasCustomPrompt="1"/>
          </p:nvPr>
        </p:nvSpPr>
        <p:spPr>
          <a:xfrm>
            <a:off x="640080" y="457200"/>
            <a:ext cx="841248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6 đặc thù nghiệp vụ – 6 tính năng PostgreSQL</a:t>
            </a:r>
            <a:endParaRPr lang="en-US" sz="2800" dirty="0"/>
          </a:p>
        </p:txBody>
      </p:sp>
      <p:graphicFrame>
        <p:nvGraphicFramePr>
          <p:cNvPr id="5" name="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31520" y="1508760"/>
          <a:ext cx="8138160" cy="914400"/>
        </p:xfrm>
        <a:graphic>
          <a:graphicData uri="http://schemas.openxmlformats.org/drawingml/2006/table">
            <a:tbl>
              <a:tblPr/>
              <a:tblGrid>
                <a:gridCol w="4754880"/>
                <a:gridCol w="3383280"/>
              </a:tblGrid>
              <a:tr h="6583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Đặc thù bán trang sức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6D6D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Tính năng PostgreSQL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6D6D6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 Mỗi loại trang sức có thuộc tính khác nhau (ni, carat, dài dây…)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2A10B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JSONB + GIN index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 Khách gõ không dấu, sai chính tả vẫn phải tìm ra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2A10B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Full-text search + unaccent + pg_trgm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 Gợi ý “sản phẩm giống” khi xem chi tiết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2A10B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pgvector + HNSW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 Đơn hàng tăng mãi theo thời gian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2A10B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Partitioning theo tháng + BRIN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5. Tồn kho ít, 2 khách mua cùng lúc chiếc cuối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2A10B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Transaction + SELECT … FOR UPDATE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6. Dashboard nhanh, báo hết hàng tức thì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2A10B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Materialized view + LISTEN/NOTIFY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503920" y="649224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A1A1A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3"/>
          <p:cNvSpPr/>
          <p:nvPr>
            <p:ph idx="104" type="title" hasCustomPrompt="1"/>
          </p:nvPr>
        </p:nvSpPr>
        <p:spPr>
          <a:xfrm>
            <a:off x="640080" y="457200"/>
            <a:ext cx="841248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Kiến trúc hệ thống</a:t>
            </a:r>
            <a:endParaRPr lang="en-US" sz="2800" dirty="0"/>
          </a:p>
        </p:txBody>
      </p:sp>
      <p:pic>
        <p:nvPicPr>
          <p:cNvPr id="3" name="architecture.jpg" descr="/home/claude/jewelry-shop-postgres/docs/img/architecture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731520" y="1417320"/>
            <a:ext cx="8138160" cy="1920240"/>
          </a:xfrm>
          <a:prstGeom prst="rect">
            <a:avLst/>
          </a:prstGeom>
        </p:spPr>
      </p:pic>
      <p:sp>
        <p:nvSpPr>
          <p:cNvPr id="4" name="bullets"/>
          <p:cNvSpPr txBox="1"/>
          <p:nvPr/>
        </p:nvSpPr>
        <p:spPr>
          <a:xfrm>
            <a:off x="731520" y="3520440"/>
            <a:ext cx="8138160" cy="2834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7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PostgreSQL 16 + pgvector · Node.js + Fastify, SQL thuần (không ORM) · Next.js 15 (khách + admin)</a:t>
            </a:r>
            <a:endParaRPr lang="en-US" sz="17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7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Logic quan trọng nằm trong CSDL: hàm place_order(), cancel_order(), trigger NOTIFY</a:t>
            </a:r>
            <a:endParaRPr lang="en-US" sz="17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7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 file migration SQL; trình chạy migration tự viết 60 dòng, mỗi file = 1 transaction</a:t>
            </a:r>
            <a:endParaRPr lang="en-US" sz="17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7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docker compose up → db + api + web; npm run seed:big → 1 triệu đơn, npm run bench → báo cáo đo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503920" y="649224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A1A1A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3"/>
          <p:cNvSpPr/>
          <p:nvPr>
            <p:ph idx="104" type="title" hasCustomPrompt="1"/>
          </p:nvPr>
        </p:nvSpPr>
        <p:spPr>
          <a:xfrm>
            <a:off x="640080" y="457200"/>
            <a:ext cx="841248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Thiết kế CSDL: 8 bảng</a:t>
            </a:r>
            <a:endParaRPr lang="en-US" sz="2800" dirty="0"/>
          </a:p>
        </p:txBody>
      </p:sp>
      <p:pic>
        <p:nvPicPr>
          <p:cNvPr id="3" name="erd.jpg" descr="/home/claude/jewelry-shop-postgres/docs/img/erd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731520" y="1371600"/>
            <a:ext cx="8138160" cy="4572000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731520" y="6035040"/>
            <a:ext cx="8138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i="1" dirty="0">
                <a:solidFill>
                  <a:srgbClr val="44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Cột tô màu = nơi áp dụng tính năng đặc biệt của PostgreSQL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503920" y="649224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A1A1A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3"/>
          <p:cNvSpPr/>
          <p:nvPr>
            <p:ph idx="104" type="title" hasCustomPrompt="1"/>
          </p:nvPr>
        </p:nvSpPr>
        <p:spPr>
          <a:xfrm>
            <a:off x="640080" y="457200"/>
            <a:ext cx="841248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1. JSONB – thuộc tính sản phẩm linh hoạt</a:t>
            </a:r>
            <a:endParaRPr lang="en-US" sz="2800" dirty="0"/>
          </a:p>
        </p:txBody>
      </p:sp>
      <p:sp>
        <p:nvSpPr>
          <p:cNvPr id="3" name="code-bg"/>
          <p:cNvSpPr/>
          <p:nvPr/>
        </p:nvSpPr>
        <p:spPr>
          <a:xfrm>
            <a:off x="731520" y="1417320"/>
            <a:ext cx="5120640" cy="3657600"/>
          </a:xfrm>
          <a:prstGeom prst="rect">
            <a:avLst/>
          </a:prstGeom>
          <a:solidFill>
            <a:srgbClr val="F4F4F4"/>
          </a:solidFill>
          <a:ln w="9525">
            <a:solidFill>
              <a:srgbClr val="BBBBBB"/>
            </a:solidFill>
            <a:prstDash val="solid"/>
          </a:ln>
        </p:spPr>
      </p:sp>
      <p:sp>
        <p:nvSpPr>
          <p:cNvPr id="4" name="code"/>
          <p:cNvSpPr txBox="1"/>
          <p:nvPr/>
        </p:nvSpPr>
        <p:spPr>
          <a:xfrm>
            <a:off x="841248" y="1490472"/>
            <a:ext cx="4901184" cy="35112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2222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attributes JSONB NOT NULL DEFAULT '{}'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2222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CREATE INDEX idx_products_attributes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2222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ON products USING GIN (attributes jsonb_path_ops);</a:t>
            </a:r>
            <a:endParaRPr lang="en-US" sz="1300" dirty="0"/>
          </a:p>
          <a:p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2222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-- Nhẫn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2222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{"metal":"Vàng trắng 18K","ring_size":12,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2222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"stone":"Kim cương","carat":0.5}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2222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-- Dây chuyền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2222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{"metal":"Vàng 24K","length_cm":50}</a:t>
            </a:r>
            <a:endParaRPr lang="en-US" sz="1300" dirty="0"/>
          </a:p>
          <a:p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2222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-- Lọc: 1 câu SQL cho mọi tổ hợp thuộc tính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2222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WHERE attributes @&gt;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2222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'{"metal":"Vàng 18K","stone":"Kim cương"}'</a:t>
            </a:r>
            <a:endParaRPr lang="en-US" sz="1300" dirty="0"/>
          </a:p>
        </p:txBody>
      </p:sp>
      <p:sp>
        <p:nvSpPr>
          <p:cNvPr id="5" name="stat-bg"/>
          <p:cNvSpPr/>
          <p:nvPr/>
        </p:nvSpPr>
        <p:spPr>
          <a:xfrm>
            <a:off x="6035040" y="1417320"/>
            <a:ext cx="2834640" cy="1325880"/>
          </a:xfrm>
          <a:prstGeom prst="rect">
            <a:avLst/>
          </a:prstGeom>
          <a:solidFill>
            <a:srgbClr val="EEF0FA"/>
          </a:solidFill>
          <a:ln w="12700">
            <a:solidFill>
              <a:srgbClr val="EEF0FA"/>
            </a:solidFill>
            <a:prstDash val="solid"/>
          </a:ln>
        </p:spPr>
      </p:sp>
      <p:sp>
        <p:nvSpPr>
          <p:cNvPr id="6" name="stat-num"/>
          <p:cNvSpPr txBox="1"/>
          <p:nvPr/>
        </p:nvSpPr>
        <p:spPr>
          <a:xfrm>
            <a:off x="6035040" y="1490472"/>
            <a:ext cx="28346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2A10B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34×</a:t>
            </a:r>
            <a:endParaRPr lang="en-US" sz="3200" dirty="0"/>
          </a:p>
        </p:txBody>
      </p:sp>
      <p:sp>
        <p:nvSpPr>
          <p:cNvPr id="7" name="stat-label"/>
          <p:cNvSpPr txBox="1"/>
          <p:nvPr/>
        </p:nvSpPr>
        <p:spPr>
          <a:xfrm>
            <a:off x="6126480" y="2194560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nhanh hơn quét tuần tự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0,06 ms so với 2,1 ms</a:t>
            </a:r>
            <a:endParaRPr lang="en-US" sz="1200" dirty="0"/>
          </a:p>
        </p:txBody>
      </p:sp>
      <p:sp>
        <p:nvSpPr>
          <p:cNvPr id="8" name="bullets"/>
          <p:cNvSpPr txBox="1"/>
          <p:nvPr/>
        </p:nvSpPr>
        <p:spPr>
          <a:xfrm>
            <a:off x="6035040" y="2926080"/>
            <a:ext cx="283464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Không ALTER TABLE khi thêm loại trang sức mới</a:t>
            </a:r>
            <a:endParaRPr lang="en-US" sz="14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Admin thêm/xoá thuộc tính ngay trên giao diện</a:t>
            </a:r>
            <a:endParaRPr lang="en-US" sz="14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Bộ lọc bên trái cũng sinh từ JSONB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731520" y="5212080"/>
            <a:ext cx="8138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i="1" dirty="0">
                <a:solidFill>
                  <a:srgbClr val="44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Planner: Bitmap Index Scan on idx_products_attributes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503920" y="649224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A1A1A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3"/>
          <p:cNvSpPr/>
          <p:nvPr>
            <p:ph idx="104" type="title" hasCustomPrompt="1"/>
          </p:nvPr>
        </p:nvSpPr>
        <p:spPr>
          <a:xfrm>
            <a:off x="640080" y="457200"/>
            <a:ext cx="841248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2. Full-text search tiếng Việt</a:t>
            </a:r>
            <a:endParaRPr lang="en-US" sz="2800" dirty="0"/>
          </a:p>
        </p:txBody>
      </p:sp>
      <p:sp>
        <p:nvSpPr>
          <p:cNvPr id="3" name="code-bg"/>
          <p:cNvSpPr/>
          <p:nvPr/>
        </p:nvSpPr>
        <p:spPr>
          <a:xfrm>
            <a:off x="731520" y="1417320"/>
            <a:ext cx="5120640" cy="3291840"/>
          </a:xfrm>
          <a:prstGeom prst="rect">
            <a:avLst/>
          </a:prstGeom>
          <a:solidFill>
            <a:srgbClr val="F4F4F4"/>
          </a:solidFill>
          <a:ln w="9525">
            <a:solidFill>
              <a:srgbClr val="BBBBBB"/>
            </a:solidFill>
            <a:prstDash val="solid"/>
          </a:ln>
        </p:spPr>
      </p:sp>
      <p:sp>
        <p:nvSpPr>
          <p:cNvPr id="4" name="code"/>
          <p:cNvSpPr txBox="1"/>
          <p:nvPr/>
        </p:nvSpPr>
        <p:spPr>
          <a:xfrm>
            <a:off x="841248" y="1490472"/>
            <a:ext cx="4901184" cy="31455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22222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-- Hàm bỏ dấu, IMMUTABLE để dùng trong index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2222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CREATE FUNCTION vi_unaccent(text) ... IMMUTABLE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2222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AS $$ SELECT lower(unaccent($1)) $$;</a:t>
            </a:r>
            <a:endParaRPr lang="en-US" sz="1200" dirty="0"/>
          </a:p>
          <a:p>
            <a:pPr indent="0" marL="0">
              <a:buNone/>
            </a:pP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2222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-- tsvector sinh tự động (generated column)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2222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search_vec TSVECTOR GENERATED ALWAYS AS (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2222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to_tsvector('simple', vi_unaccent(name)) ...) STORED;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2222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CREATE INDEX ... USING GIN (search_vec);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2222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CREATE INDEX ... USING GIN (vi_unaccent(name) gin_trgm_ops);</a:t>
            </a:r>
            <a:endParaRPr lang="en-US" sz="1200" dirty="0"/>
          </a:p>
          <a:p>
            <a:pPr indent="0" marL="0">
              <a:buNone/>
            </a:pP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2222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-- Tầng 1: search_vec @@ plainto_tsquery(vi_unaccent($1))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2222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-- Tầng 2: vi_unaccent(name) % 'nhan kim cuog solitare'</a:t>
            </a:r>
            <a:endParaRPr lang="en-US" sz="1200" dirty="0"/>
          </a:p>
        </p:txBody>
      </p:sp>
      <p:pic>
        <p:nvPicPr>
          <p:cNvPr id="5" name="05-tim-kiem-trigram.jpg" descr="/home/claude/jewelry-shop-postgres/docs/img/05-tim-kiem-trigram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035040" y="1417320"/>
            <a:ext cx="2834640" cy="178308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6035040" y="3246120"/>
            <a:ext cx="2834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i="1" dirty="0">
                <a:solidFill>
                  <a:srgbClr val="44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“nhan kim cuog solitare” → Nhẫn kim cương vàng 18K Solitaire (trigram 0,44)</a:t>
            </a:r>
            <a:endParaRPr lang="en-US" sz="1200" dirty="0"/>
          </a:p>
        </p:txBody>
      </p:sp>
      <p:sp>
        <p:nvSpPr>
          <p:cNvPr id="7" name="stat-bg"/>
          <p:cNvSpPr/>
          <p:nvPr/>
        </p:nvSpPr>
        <p:spPr>
          <a:xfrm>
            <a:off x="6035040" y="4160520"/>
            <a:ext cx="2834640" cy="1325880"/>
          </a:xfrm>
          <a:prstGeom prst="rect">
            <a:avLst/>
          </a:prstGeom>
          <a:solidFill>
            <a:srgbClr val="EEF0FA"/>
          </a:solidFill>
          <a:ln w="12700">
            <a:solidFill>
              <a:srgbClr val="EEF0FA"/>
            </a:solidFill>
            <a:prstDash val="solid"/>
          </a:ln>
        </p:spPr>
      </p:sp>
      <p:sp>
        <p:nvSpPr>
          <p:cNvPr id="8" name="stat-num"/>
          <p:cNvSpPr txBox="1"/>
          <p:nvPr/>
        </p:nvSpPr>
        <p:spPr>
          <a:xfrm>
            <a:off x="6035040" y="4233672"/>
            <a:ext cx="28346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2A10B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9,6×</a:t>
            </a:r>
            <a:endParaRPr lang="en-US" sz="3200" dirty="0"/>
          </a:p>
        </p:txBody>
      </p:sp>
      <p:sp>
        <p:nvSpPr>
          <p:cNvPr id="9" name="stat-label"/>
          <p:cNvSpPr txBox="1"/>
          <p:nvPr/>
        </p:nvSpPr>
        <p:spPr>
          <a:xfrm>
            <a:off x="6126480" y="4937760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FTS có GIN so với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quét tuần tự</a:t>
            </a:r>
            <a:endParaRPr lang="en-US" sz="1200" dirty="0"/>
          </a:p>
        </p:txBody>
      </p:sp>
      <p:sp>
        <p:nvSpPr>
          <p:cNvPr id="10" name="bullets"/>
          <p:cNvSpPr txBox="1"/>
          <p:nvPr/>
        </p:nvSpPr>
        <p:spPr>
          <a:xfrm>
            <a:off x="731520" y="4846320"/>
            <a:ext cx="512064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Không dấu / có dấu đều khớp, xếp hạng ts_rank, tô đậm ts_headline</a:t>
            </a:r>
            <a:endParaRPr lang="en-US" sz="14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Gõ sai chính tả → tự chuyển sang trigram (pg_trgm)</a:t>
            </a:r>
            <a:endParaRPr lang="en-US" sz="14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Gợi ý khi gõ bằng prefix search  nha:* &amp; kim:*  — không cần Elasticsearch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503920" y="649224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A1A1A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3"/>
          <p:cNvSpPr/>
          <p:nvPr>
            <p:ph idx="104" type="title" hasCustomPrompt="1"/>
          </p:nvPr>
        </p:nvSpPr>
        <p:spPr>
          <a:xfrm>
            <a:off x="640080" y="457200"/>
            <a:ext cx="841248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3. pgvector – gợi ý sản phẩm tương tự</a:t>
            </a:r>
            <a:endParaRPr lang="en-US" sz="2800" dirty="0"/>
          </a:p>
        </p:txBody>
      </p:sp>
      <p:sp>
        <p:nvSpPr>
          <p:cNvPr id="3" name="code-bg"/>
          <p:cNvSpPr/>
          <p:nvPr/>
        </p:nvSpPr>
        <p:spPr>
          <a:xfrm>
            <a:off x="731520" y="1417320"/>
            <a:ext cx="5120640" cy="2743200"/>
          </a:xfrm>
          <a:prstGeom prst="rect">
            <a:avLst/>
          </a:prstGeom>
          <a:solidFill>
            <a:srgbClr val="F4F4F4"/>
          </a:solidFill>
          <a:ln w="9525">
            <a:solidFill>
              <a:srgbClr val="BBBBBB"/>
            </a:solidFill>
            <a:prstDash val="solid"/>
          </a:ln>
        </p:spPr>
      </p:sp>
      <p:sp>
        <p:nvSpPr>
          <p:cNvPr id="4" name="code"/>
          <p:cNvSpPr txBox="1"/>
          <p:nvPr/>
        </p:nvSpPr>
        <p:spPr>
          <a:xfrm>
            <a:off x="841248" y="1490472"/>
            <a:ext cx="4901184" cy="2596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22222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embedding vector(256)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2222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CREATE INDEX idx_products_embedding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2222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ON products USING hnsw (embedding vector_cosine_ops);</a:t>
            </a:r>
            <a:endParaRPr lang="en-US" sz="1200" dirty="0"/>
          </a:p>
          <a:p>
            <a:pPr indent="0" marL="0">
              <a:buNone/>
            </a:pP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2222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-- 8 sản phẩm gần nhất, &lt;=&gt; = khoảng cách cosine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2222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SELECT name,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2222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1 - (p.embedding &lt;=&gt; me.embedding) AS sim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2222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FROM products p,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2222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(SELECT embedding FROM products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2222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WHERE slug = $1) me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2222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ORDER BY p.embedding &lt;=&gt; me.embedding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2222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LIMIT 8;</a:t>
            </a:r>
            <a:endParaRPr lang="en-US" sz="1200" dirty="0"/>
          </a:p>
        </p:txBody>
      </p:sp>
      <p:pic>
        <p:nvPicPr>
          <p:cNvPr id="5" name="03-chi-tiet-pgvector.jpg" descr="/home/claude/jewelry-shop-postgres/docs/img/03-chi-tiet-pgvector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035040" y="1417320"/>
            <a:ext cx="2834640" cy="3657600"/>
          </a:xfrm>
          <a:prstGeom prst="rect">
            <a:avLst/>
          </a:prstGeom>
        </p:spPr>
      </p:pic>
      <p:sp>
        <p:nvSpPr>
          <p:cNvPr id="6" name="bullets"/>
          <p:cNvSpPr txBox="1"/>
          <p:nvPr/>
        </p:nvSpPr>
        <p:spPr>
          <a:xfrm>
            <a:off x="731520" y="4297680"/>
            <a:ext cx="512064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Embedding demo bằng feature hashing: tên + danh mục + thuộc tính JSONB → 256 chiều, không cần API ngoài</a:t>
            </a:r>
            <a:endParaRPr lang="en-US" sz="14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Thay bằng OpenAI / CLIP sau này chỉ đổi 1 hàm; schema và SQL giữ nguyên</a:t>
            </a:r>
            <a:endParaRPr lang="en-US" sz="14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HNSW: 0,23 ms so với 1,7 ms khi tính khoảng cách cho toàn bộ 3.033 vector (7,4×)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503920" y="649224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A1A1A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3"/>
          <p:cNvSpPr/>
          <p:nvPr>
            <p:ph idx="104" type="title" hasCustomPrompt="1"/>
          </p:nvPr>
        </p:nvSpPr>
        <p:spPr>
          <a:xfrm>
            <a:off x="640080" y="457200"/>
            <a:ext cx="841248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4. Partitioning theo tháng + BRIN</a:t>
            </a:r>
            <a:endParaRPr lang="en-US" sz="2800" dirty="0"/>
          </a:p>
        </p:txBody>
      </p:sp>
      <p:sp>
        <p:nvSpPr>
          <p:cNvPr id="3" name="code-bg"/>
          <p:cNvSpPr/>
          <p:nvPr/>
        </p:nvSpPr>
        <p:spPr>
          <a:xfrm>
            <a:off x="731520" y="1417320"/>
            <a:ext cx="5120640" cy="2377440"/>
          </a:xfrm>
          <a:prstGeom prst="rect">
            <a:avLst/>
          </a:prstGeom>
          <a:solidFill>
            <a:srgbClr val="F4F4F4"/>
          </a:solidFill>
          <a:ln w="9525">
            <a:solidFill>
              <a:srgbClr val="BBBBBB"/>
            </a:solidFill>
            <a:prstDash val="solid"/>
          </a:ln>
        </p:spPr>
      </p:sp>
      <p:sp>
        <p:nvSpPr>
          <p:cNvPr id="4" name="code"/>
          <p:cNvSpPr txBox="1"/>
          <p:nvPr/>
        </p:nvSpPr>
        <p:spPr>
          <a:xfrm>
            <a:off x="841248" y="1490472"/>
            <a:ext cx="4901184" cy="22311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22222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CREATE TABLE orders (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2222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id BIGSERIAL, created_at TIMESTAMPTZ NOT NULL, ...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2222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PRIMARY KEY (id, created_at)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2222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 PARTITION BY RANGE (created_at);</a:t>
            </a:r>
            <a:endParaRPr lang="en-US" sz="1200" dirty="0"/>
          </a:p>
          <a:p>
            <a:pPr indent="0" marL="0">
              <a:buNone/>
            </a:pP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2222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CREATE TABLE orders_2026_10 PARTITION OF orders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2222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FOR VALUES FROM ('2026-10-01') TO ('2026-11-01');</a:t>
            </a:r>
            <a:endParaRPr lang="en-US" sz="1200" dirty="0"/>
          </a:p>
          <a:p>
            <a:pPr indent="0" marL="0">
              <a:buNone/>
            </a:pP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2222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CREATE INDEX ... ON orders USING BRIN (created_at);</a:t>
            </a:r>
            <a:endParaRPr lang="en-US" sz="1200" dirty="0"/>
          </a:p>
        </p:txBody>
      </p:sp>
      <p:sp>
        <p:nvSpPr>
          <p:cNvPr id="5" name="stat-bg"/>
          <p:cNvSpPr/>
          <p:nvPr/>
        </p:nvSpPr>
        <p:spPr>
          <a:xfrm>
            <a:off x="6035040" y="1417320"/>
            <a:ext cx="2834640" cy="1325880"/>
          </a:xfrm>
          <a:prstGeom prst="rect">
            <a:avLst/>
          </a:prstGeom>
          <a:solidFill>
            <a:srgbClr val="EEF0FA"/>
          </a:solidFill>
          <a:ln w="12700">
            <a:solidFill>
              <a:srgbClr val="EEF0FA"/>
            </a:solidFill>
            <a:prstDash val="solid"/>
          </a:ln>
        </p:spPr>
      </p:sp>
      <p:sp>
        <p:nvSpPr>
          <p:cNvPr id="6" name="stat-num"/>
          <p:cNvSpPr txBox="1"/>
          <p:nvPr/>
        </p:nvSpPr>
        <p:spPr>
          <a:xfrm>
            <a:off x="6035040" y="1490472"/>
            <a:ext cx="28346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C628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/ 37</a:t>
            </a:r>
            <a:endParaRPr lang="en-US" sz="3200" dirty="0"/>
          </a:p>
        </p:txBody>
      </p:sp>
      <p:sp>
        <p:nvSpPr>
          <p:cNvPr id="7" name="stat-label"/>
          <p:cNvSpPr txBox="1"/>
          <p:nvPr/>
        </p:nvSpPr>
        <p:spPr>
          <a:xfrm>
            <a:off x="6126480" y="2194560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partition được quét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(1 triệu đơn) nhờ pruning</a:t>
            </a:r>
            <a:endParaRPr lang="en-US" sz="1200" dirty="0"/>
          </a:p>
        </p:txBody>
      </p:sp>
      <p:sp>
        <p:nvSpPr>
          <p:cNvPr id="8" name="stat-bg"/>
          <p:cNvSpPr/>
          <p:nvPr/>
        </p:nvSpPr>
        <p:spPr>
          <a:xfrm>
            <a:off x="6035040" y="2880360"/>
            <a:ext cx="2834640" cy="1325880"/>
          </a:xfrm>
          <a:prstGeom prst="rect">
            <a:avLst/>
          </a:prstGeom>
          <a:solidFill>
            <a:srgbClr val="EEF0FA"/>
          </a:solidFill>
          <a:ln w="12700">
            <a:solidFill>
              <a:srgbClr val="EEF0FA"/>
            </a:solidFill>
            <a:prstDash val="solid"/>
          </a:ln>
        </p:spPr>
      </p:sp>
      <p:sp>
        <p:nvSpPr>
          <p:cNvPr id="9" name="stat-num"/>
          <p:cNvSpPr txBox="1"/>
          <p:nvPr/>
        </p:nvSpPr>
        <p:spPr>
          <a:xfrm>
            <a:off x="6035040" y="2953512"/>
            <a:ext cx="28346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0B72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888 kB</a:t>
            </a:r>
            <a:endParaRPr lang="en-US" sz="3200" dirty="0"/>
          </a:p>
        </p:txBody>
      </p:sp>
      <p:sp>
        <p:nvSpPr>
          <p:cNvPr id="10" name="stat-label"/>
          <p:cNvSpPr txBox="1"/>
          <p:nvPr/>
        </p:nvSpPr>
        <p:spPr>
          <a:xfrm>
            <a:off x="6126480" y="3657600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BRIN so với 23 MB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B-tree cùng cột (26×)</a:t>
            </a:r>
            <a:endParaRPr lang="en-US" sz="1200" dirty="0"/>
          </a:p>
        </p:txBody>
      </p:sp>
      <p:pic>
        <p:nvPicPr>
          <p:cNvPr id="11" name="10-admin-benchmark-explain.jpg" descr="/home/claude/jewelry-shop-postgres/docs/img/10-admin-benchmark-explain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731520" y="3931920"/>
            <a:ext cx="5120640" cy="1920240"/>
          </a:xfrm>
          <a:prstGeom prst="rect">
            <a:avLst/>
          </a:prstGeom>
        </p:spPr>
      </p:pic>
      <p:sp>
        <p:nvSpPr>
          <p:cNvPr id="12" name="bullets"/>
          <p:cNvSpPr txBox="1"/>
          <p:nvPr/>
        </p:nvSpPr>
        <p:spPr>
          <a:xfrm>
            <a:off x="6035040" y="4343400"/>
            <a:ext cx="283464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Doanh thu 2 tuần: 3,3 ms so với 66 ms (20×)</a:t>
            </a:r>
            <a:endParaRPr lang="en-US" sz="13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Lưu trữ đơn cũ = DETACH 1 partition</a:t>
            </a:r>
            <a:endParaRPr lang="en-US" sz="13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Tháng mới: ensure_orders_partition()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503920" y="649224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A1A1A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3"/>
          <p:cNvSpPr/>
          <p:nvPr>
            <p:ph idx="104" type="title" hasCustomPrompt="1"/>
          </p:nvPr>
        </p:nvSpPr>
        <p:spPr>
          <a:xfrm>
            <a:off x="640080" y="457200"/>
            <a:ext cx="841248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5. Transaction + FOR UPDATE – chống bán quá kho</a:t>
            </a:r>
            <a:endParaRPr lang="en-US" sz="2800" dirty="0"/>
          </a:p>
        </p:txBody>
      </p:sp>
      <p:pic>
        <p:nvPicPr>
          <p:cNvPr id="3" name="order_flow.jpg" descr="/home/claude/jewelry-shop-postgres/docs/img/order_flow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731520" y="1371600"/>
            <a:ext cx="2743200" cy="5029200"/>
          </a:xfrm>
          <a:prstGeom prst="rect">
            <a:avLst/>
          </a:prstGeom>
        </p:spPr>
      </p:pic>
      <p:sp>
        <p:nvSpPr>
          <p:cNvPr id="4" name="code-bg"/>
          <p:cNvSpPr/>
          <p:nvPr/>
        </p:nvSpPr>
        <p:spPr>
          <a:xfrm>
            <a:off x="3657600" y="1371600"/>
            <a:ext cx="5212080" cy="3246120"/>
          </a:xfrm>
          <a:prstGeom prst="rect">
            <a:avLst/>
          </a:prstGeom>
          <a:solidFill>
            <a:srgbClr val="F4F4F4"/>
          </a:solidFill>
          <a:ln w="9525">
            <a:solidFill>
              <a:srgbClr val="BBBBBB"/>
            </a:solidFill>
            <a:prstDash val="solid"/>
          </a:ln>
        </p:spPr>
      </p:sp>
      <p:sp>
        <p:nvSpPr>
          <p:cNvPr id="5" name="code"/>
          <p:cNvSpPr txBox="1"/>
          <p:nvPr/>
        </p:nvSpPr>
        <p:spPr>
          <a:xfrm>
            <a:off x="3767328" y="1444752"/>
            <a:ext cx="4992624" cy="30998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22222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-- place_order(): 1 hàm PL/pgSQL = 1 transaction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2222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FOR r IN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2222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SELECT p.id, p.name, p.stock, i.qty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2222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FROM jsonb_to_recordset(p_items) i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2222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JOIN products p ON p.id = i.product_id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2222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ORDER BY p.id    -- khoá cùng thứ tự, tránh deadlock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2222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FOR UPDATE OF p  -- giao dịch 2 phải CHỜ giao dịch 1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2222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LOOP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2222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IF r.stock &lt; r.qty THEN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2222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RAISE EXCEPTION 'OUT_OF_STOCK: % chỉ còn %', ...;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2222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END IF;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2222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END LOOP;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2222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-- INSERT orders, order_items; UPDATE stock;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2222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-- CHECK (stock &gt;= 0) là hàng rào cuối cùng</a:t>
            </a:r>
            <a:endParaRPr lang="en-US" sz="1200" dirty="0"/>
          </a:p>
        </p:txBody>
      </p:sp>
      <p:sp>
        <p:nvSpPr>
          <p:cNvPr id="6" name="stat-bg"/>
          <p:cNvSpPr/>
          <p:nvPr/>
        </p:nvSpPr>
        <p:spPr>
          <a:xfrm>
            <a:off x="3657600" y="4846320"/>
            <a:ext cx="2514600" cy="1325880"/>
          </a:xfrm>
          <a:prstGeom prst="rect">
            <a:avLst/>
          </a:prstGeom>
          <a:solidFill>
            <a:srgbClr val="EEF0FA"/>
          </a:solidFill>
          <a:ln w="12700">
            <a:solidFill>
              <a:srgbClr val="EEF0FA"/>
            </a:solidFill>
            <a:prstDash val="solid"/>
          </a:ln>
        </p:spPr>
      </p:sp>
      <p:sp>
        <p:nvSpPr>
          <p:cNvPr id="7" name="stat-num"/>
          <p:cNvSpPr txBox="1"/>
          <p:nvPr/>
        </p:nvSpPr>
        <p:spPr>
          <a:xfrm>
            <a:off x="3657600" y="4919472"/>
            <a:ext cx="2514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2A10B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 / 50</a:t>
            </a:r>
            <a:endParaRPr lang="en-US" sz="3200" dirty="0"/>
          </a:p>
        </p:txBody>
      </p:sp>
      <p:sp>
        <p:nvSpPr>
          <p:cNvPr id="8" name="stat-label"/>
          <p:cNvSpPr txBox="1"/>
          <p:nvPr/>
        </p:nvSpPr>
        <p:spPr>
          <a:xfrm>
            <a:off x="3749040" y="5623560"/>
            <a:ext cx="2331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client mua được khi kho = 5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45 client bị OUT_OF_STOCK</a:t>
            </a:r>
            <a:endParaRPr lang="en-US" sz="1200" dirty="0"/>
          </a:p>
        </p:txBody>
      </p:sp>
      <p:sp>
        <p:nvSpPr>
          <p:cNvPr id="9" name="stat-bg"/>
          <p:cNvSpPr/>
          <p:nvPr/>
        </p:nvSpPr>
        <p:spPr>
          <a:xfrm>
            <a:off x="6355080" y="4846320"/>
            <a:ext cx="2514600" cy="1325880"/>
          </a:xfrm>
          <a:prstGeom prst="rect">
            <a:avLst/>
          </a:prstGeom>
          <a:solidFill>
            <a:srgbClr val="EEF0FA"/>
          </a:solidFill>
          <a:ln w="12700">
            <a:solidFill>
              <a:srgbClr val="EEF0FA"/>
            </a:solidFill>
            <a:prstDash val="solid"/>
          </a:ln>
        </p:spPr>
      </p:sp>
      <p:sp>
        <p:nvSpPr>
          <p:cNvPr id="10" name="stat-num"/>
          <p:cNvSpPr txBox="1"/>
          <p:nvPr/>
        </p:nvSpPr>
        <p:spPr>
          <a:xfrm>
            <a:off x="6355080" y="4919472"/>
            <a:ext cx="2514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1E8E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1.090</a:t>
            </a:r>
            <a:endParaRPr lang="en-US" sz="3200" dirty="0"/>
          </a:p>
        </p:txBody>
      </p:sp>
      <p:sp>
        <p:nvSpPr>
          <p:cNvPr id="11" name="stat-label"/>
          <p:cNvSpPr txBox="1"/>
          <p:nvPr/>
        </p:nvSpPr>
        <p:spPr>
          <a:xfrm>
            <a:off x="6446520" y="5623560"/>
            <a:ext cx="2331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đơn / giây với 30 client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trên CSDL 1 triệu đơn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503920" y="649224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A1A1A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3"/>
          <p:cNvSpPr/>
          <p:nvPr>
            <p:ph idx="104" type="title" hasCustomPrompt="1"/>
          </p:nvPr>
        </p:nvSpPr>
        <p:spPr>
          <a:xfrm>
            <a:off x="640080" y="457200"/>
            <a:ext cx="841248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6. Materialized view + LISTEN/NOTIFY</a:t>
            </a:r>
            <a:endParaRPr lang="en-US" sz="2800" dirty="0"/>
          </a:p>
        </p:txBody>
      </p:sp>
      <p:sp>
        <p:nvSpPr>
          <p:cNvPr id="3" name="code-bg"/>
          <p:cNvSpPr/>
          <p:nvPr/>
        </p:nvSpPr>
        <p:spPr>
          <a:xfrm>
            <a:off x="731520" y="1417320"/>
            <a:ext cx="5120640" cy="2286000"/>
          </a:xfrm>
          <a:prstGeom prst="rect">
            <a:avLst/>
          </a:prstGeom>
          <a:solidFill>
            <a:srgbClr val="F4F4F4"/>
          </a:solidFill>
          <a:ln w="9525">
            <a:solidFill>
              <a:srgbClr val="BBBBBB"/>
            </a:solidFill>
            <a:prstDash val="solid"/>
          </a:ln>
        </p:spPr>
      </p:sp>
      <p:sp>
        <p:nvSpPr>
          <p:cNvPr id="4" name="code"/>
          <p:cNvSpPr txBox="1"/>
          <p:nvPr/>
        </p:nvSpPr>
        <p:spPr>
          <a:xfrm>
            <a:off x="841248" y="1490472"/>
            <a:ext cx="4901184" cy="21396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22222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CREATE MATERIALIZED VIEW mv_sales_daily AS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2222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SELECT date_trunc('day', created_at)::date AS day,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2222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count(*) AS orders, sum(total) AS revenue ...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2222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CREATE UNIQUE INDEX ON mv_sales_daily (day);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2222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REFRESH MATERIALIZED VIEW CONCURRENTLY mv_sales_daily;</a:t>
            </a:r>
            <a:endParaRPr lang="en-US" sz="1200" dirty="0"/>
          </a:p>
          <a:p>
            <a:pPr indent="0" marL="0">
              <a:buNone/>
            </a:pP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2222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-- Trigger: stock &lt; 3 → pg_notify('low_stock', json)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2222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-- Node.js: LISTEN low_stock → SSE → trình duyệt admin</a:t>
            </a:r>
            <a:endParaRPr lang="en-US" sz="1200" dirty="0"/>
          </a:p>
        </p:txBody>
      </p:sp>
      <p:pic>
        <p:nvPicPr>
          <p:cNvPr id="5" name="13-admin-notify-sse.jpg" descr="/home/claude/jewelry-shop-postgres/docs/img/13-admin-notify-sse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035040" y="1417320"/>
            <a:ext cx="2834640" cy="1737360"/>
          </a:xfrm>
          <a:prstGeom prst="rect">
            <a:avLst/>
          </a:prstGeom>
        </p:spPr>
      </p:pic>
      <p:sp>
        <p:nvSpPr>
          <p:cNvPr id="6" name="stat-bg"/>
          <p:cNvSpPr/>
          <p:nvPr/>
        </p:nvSpPr>
        <p:spPr>
          <a:xfrm>
            <a:off x="731520" y="3886200"/>
            <a:ext cx="2468880" cy="1325880"/>
          </a:xfrm>
          <a:prstGeom prst="rect">
            <a:avLst/>
          </a:prstGeom>
          <a:solidFill>
            <a:srgbClr val="EEF0FA"/>
          </a:solidFill>
          <a:ln w="12700">
            <a:solidFill>
              <a:srgbClr val="EEF0FA"/>
            </a:solidFill>
            <a:prstDash val="solid"/>
          </a:ln>
        </p:spPr>
      </p:sp>
      <p:sp>
        <p:nvSpPr>
          <p:cNvPr id="7" name="stat-num"/>
          <p:cNvSpPr txBox="1"/>
          <p:nvPr/>
        </p:nvSpPr>
        <p:spPr>
          <a:xfrm>
            <a:off x="731520" y="3959352"/>
            <a:ext cx="24688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0B72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1.000×</a:t>
            </a:r>
            <a:endParaRPr lang="en-US" sz="3200" dirty="0"/>
          </a:p>
        </p:txBody>
      </p:sp>
      <p:sp>
        <p:nvSpPr>
          <p:cNvPr id="8" name="stat-label"/>
          <p:cNvSpPr txBox="1"/>
          <p:nvPr/>
        </p:nvSpPr>
        <p:spPr>
          <a:xfrm>
            <a:off x="822960" y="4663440"/>
            <a:ext cx="2286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doanh thu 30 ngày: 0,018 ms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 với 19 ms tính trực tiếp</a:t>
            </a:r>
            <a:endParaRPr lang="en-US" sz="1200" dirty="0"/>
          </a:p>
        </p:txBody>
      </p:sp>
      <p:sp>
        <p:nvSpPr>
          <p:cNvPr id="9" name="stat-bg"/>
          <p:cNvSpPr/>
          <p:nvPr/>
        </p:nvSpPr>
        <p:spPr>
          <a:xfrm>
            <a:off x="3383280" y="3886200"/>
            <a:ext cx="2468880" cy="1325880"/>
          </a:xfrm>
          <a:prstGeom prst="rect">
            <a:avLst/>
          </a:prstGeom>
          <a:solidFill>
            <a:srgbClr val="EEF0FA"/>
          </a:solidFill>
          <a:ln w="12700">
            <a:solidFill>
              <a:srgbClr val="EEF0FA"/>
            </a:solidFill>
            <a:prstDash val="solid"/>
          </a:ln>
        </p:spPr>
      </p:sp>
      <p:sp>
        <p:nvSpPr>
          <p:cNvPr id="10" name="stat-num"/>
          <p:cNvSpPr txBox="1"/>
          <p:nvPr/>
        </p:nvSpPr>
        <p:spPr>
          <a:xfrm>
            <a:off x="3383280" y="3959352"/>
            <a:ext cx="24688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C628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&lt; 0,1 s</a:t>
            </a:r>
            <a:endParaRPr lang="en-US" sz="3200" dirty="0"/>
          </a:p>
        </p:txBody>
      </p:sp>
      <p:sp>
        <p:nvSpPr>
          <p:cNvPr id="11" name="stat-label"/>
          <p:cNvSpPr txBox="1"/>
          <p:nvPr/>
        </p:nvSpPr>
        <p:spPr>
          <a:xfrm>
            <a:off x="3474720" y="4663440"/>
            <a:ext cx="2286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cảnh báo tới admin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không F5, không Redis</a:t>
            </a:r>
            <a:endParaRPr lang="en-US" sz="1200" dirty="0"/>
          </a:p>
        </p:txBody>
      </p:sp>
      <p:pic>
        <p:nvPicPr>
          <p:cNvPr id="12" name="07-admin-dashboard.jpg" descr="/home/claude/jewelry-shop-postgres/docs/img/07-admin-dashboard.jp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6035040" y="3291840"/>
            <a:ext cx="2834640" cy="3108960"/>
          </a:xfrm>
          <a:prstGeom prst="rect">
            <a:avLst/>
          </a:prstGeom>
        </p:spPr>
      </p:pic>
      <p:sp>
        <p:nvSpPr>
          <p:cNvPr id="13" name="bullets"/>
          <p:cNvSpPr txBox="1"/>
          <p:nvPr/>
        </p:nvSpPr>
        <p:spPr>
          <a:xfrm>
            <a:off x="731520" y="5394960"/>
            <a:ext cx="51206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REFRESH CONCURRENTLY: không chặn người đọc</a:t>
            </a:r>
            <a:endParaRPr lang="en-US" sz="13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Số liệu “hôm nay” tính trực tiếp trên partition tháng này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503920" y="649224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A1A1A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3"/>
          <p:cNvSpPr/>
          <p:nvPr>
            <p:ph idx="104" type="title" hasCustomPrompt="1"/>
          </p:nvPr>
        </p:nvSpPr>
        <p:spPr>
          <a:xfrm>
            <a:off x="640080" y="457200"/>
            <a:ext cx="841248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Các loại index đặc biệt khác</a:t>
            </a:r>
            <a:endParaRPr lang="en-US" sz="2800" dirty="0"/>
          </a:p>
        </p:txBody>
      </p:sp>
      <p:graphicFrame>
        <p:nvGraphicFramePr>
          <p:cNvPr id="14" name="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31520" y="1508760"/>
          <a:ext cx="8138160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3566160"/>
                <a:gridCol w="2560320"/>
              </a:tblGrid>
              <a:tr h="6858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Loại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6D6D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Trong hệ thống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6D6D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Lợi ích đo được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6D6D6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Partial index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orders (created_at) WHERE status IN (pending, confirmed)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0,2 ms so với 98 ms trên 1 triệu đơn (480×)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Covering index (INCLUDE)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orders (customer_id, created_at) INCLUDE (id, status, total)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Index Only Scan, Heap Fetches = 0; 250×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Expression index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customers (lower(email))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Tìm email không phân biệt hoa thường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Generated column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total = subtotal + shipping_fee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search_vec = to_tsvector(...)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CSDL tự tính, app không ghi sai được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GIN / HNSW / BRIN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JSONB, tsvector, trigram, vector, thời gian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2,6× – 34× so với quét tuần tự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Text 1"/>
          <p:cNvSpPr txBox="1"/>
          <p:nvPr/>
        </p:nvSpPr>
        <p:spPr>
          <a:xfrm>
            <a:off x="731520" y="5760720"/>
            <a:ext cx="8138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i="1" dirty="0">
                <a:solidFill>
                  <a:srgbClr val="44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Mỗi index gắn với đúng 1 truy vấn của ứng dụng — theo dõi lượt dùng bằng pg_stat_user_indexes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503920" y="649224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A1A1A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3"/>
          <p:cNvSpPr/>
          <p:nvPr>
            <p:ph idx="104" type="title" hasCustomPrompt="1"/>
          </p:nvPr>
        </p:nvSpPr>
        <p:spPr>
          <a:xfrm>
            <a:off x="640080" y="457200"/>
            <a:ext cx="841248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Ứng dụng: trang bán hàng và trang quản trị</a:t>
            </a:r>
            <a:endParaRPr lang="en-US" sz="2800" dirty="0"/>
          </a:p>
        </p:txBody>
      </p:sp>
      <p:pic>
        <p:nvPicPr>
          <p:cNvPr id="3" name="01-trang-chu.jpg" descr="/home/claude/jewelry-shop-postgres/docs/img/01-trang-chu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731520" y="1417320"/>
            <a:ext cx="2606040" cy="3291840"/>
          </a:xfrm>
          <a:prstGeom prst="rect">
            <a:avLst/>
          </a:prstGeom>
        </p:spPr>
      </p:pic>
      <p:pic>
        <p:nvPicPr>
          <p:cNvPr id="4" name="02-danh-sach-loc-jsonb.jpg" descr="/home/claude/jewelry-shop-postgres/docs/img/02-danh-sach-loc-jsonb.jp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3493008" y="1417320"/>
            <a:ext cx="2606040" cy="3291840"/>
          </a:xfrm>
          <a:prstGeom prst="rect">
            <a:avLst/>
          </a:prstGeom>
        </p:spPr>
      </p:pic>
      <p:pic>
        <p:nvPicPr>
          <p:cNvPr id="5" name="09-admin-san-pham-jsonb.jpg" descr="/home/claude/jewelry-shop-postgres/docs/img/09-admin-san-pham-jsonb.jpg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6254496" y="1417320"/>
            <a:ext cx="2615184" cy="3291840"/>
          </a:xfrm>
          <a:prstGeom prst="rect">
            <a:avLst/>
          </a:prstGeom>
        </p:spPr>
      </p:pic>
      <p:sp>
        <p:nvSpPr>
          <p:cNvPr id="6" name="Text 1"/>
          <p:cNvSpPr txBox="1"/>
          <p:nvPr/>
        </p:nvSpPr>
        <p:spPr>
          <a:xfrm>
            <a:off x="731520" y="4800600"/>
            <a:ext cx="8138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4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Trang chủ  ·  Lọc JSONB  ·  Admin: sửa thuộc tính &amp; nhập kho</a:t>
            </a:r>
            <a:endParaRPr lang="en-US" sz="1400" dirty="0"/>
          </a:p>
        </p:txBody>
      </p:sp>
      <p:sp>
        <p:nvSpPr>
          <p:cNvPr id="7" name="bullets"/>
          <p:cNvSpPr txBox="1"/>
          <p:nvPr/>
        </p:nvSpPr>
        <p:spPr>
          <a:xfrm>
            <a:off x="731520" y="5303520"/>
            <a:ext cx="81381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Demo trực tiếp: tìm kiếm không dấu / sai chính tả, đặt hàng chiếc cuối từ 2 trình duyệt, cảnh báo real-time, trang Monitor &amp; Benchmark chạy EXPLAIN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503920" y="649224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A1A1A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3"/>
          <p:cNvSpPr/>
          <p:nvPr>
            <p:ph idx="104" type="title" hasCustomPrompt="1"/>
          </p:nvPr>
        </p:nvSpPr>
        <p:spPr>
          <a:xfrm>
            <a:off x="640080" y="457200"/>
            <a:ext cx="841248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Benchmark: có index nhanh hơn bao nhiêu?</a:t>
            </a:r>
            <a:endParaRPr lang="en-US" sz="2800" dirty="0"/>
          </a:p>
        </p:txBody>
      </p:sp>
      <p:graphicFrame>
        <p:nvGraphicFramePr>
          <p:cNvPr id="3" name="speedup-chart" descr=""/>
          <p:cNvGraphicFramePr/>
          <p:nvPr/>
        </p:nvGraphicFramePr>
        <p:xfrm>
          <a:off x="731520" y="1371600"/>
          <a:ext cx="5212080" cy="49377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" name="stat-bg"/>
          <p:cNvSpPr/>
          <p:nvPr/>
        </p:nvSpPr>
        <p:spPr>
          <a:xfrm>
            <a:off x="6126480" y="1417320"/>
            <a:ext cx="2743200" cy="1325880"/>
          </a:xfrm>
          <a:prstGeom prst="rect">
            <a:avLst/>
          </a:prstGeom>
          <a:solidFill>
            <a:srgbClr val="EEF0FA"/>
          </a:solidFill>
          <a:ln w="12700">
            <a:solidFill>
              <a:srgbClr val="EEF0FA"/>
            </a:solidFill>
            <a:prstDash val="solid"/>
          </a:ln>
        </p:spPr>
      </p:sp>
      <p:sp>
        <p:nvSpPr>
          <p:cNvPr id="5" name="stat-num"/>
          <p:cNvSpPr txBox="1"/>
          <p:nvPr/>
        </p:nvSpPr>
        <p:spPr>
          <a:xfrm>
            <a:off x="6126480" y="1490472"/>
            <a:ext cx="27432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1E8E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triệu</a:t>
            </a:r>
            <a:endParaRPr lang="en-US" sz="3200" dirty="0"/>
          </a:p>
        </p:txBody>
      </p:sp>
      <p:sp>
        <p:nvSpPr>
          <p:cNvPr id="6" name="stat-label"/>
          <p:cNvSpPr txBox="1"/>
          <p:nvPr/>
        </p:nvSpPr>
        <p:spPr>
          <a:xfrm>
            <a:off x="6217920" y="2194560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đơn hàng / 37 partition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npm run seed:big</a:t>
            </a:r>
            <a:endParaRPr lang="en-US" sz="1200" dirty="0"/>
          </a:p>
        </p:txBody>
      </p:sp>
      <p:sp>
        <p:nvSpPr>
          <p:cNvPr id="7" name="stat-bg"/>
          <p:cNvSpPr/>
          <p:nvPr/>
        </p:nvSpPr>
        <p:spPr>
          <a:xfrm>
            <a:off x="6126480" y="2880360"/>
            <a:ext cx="2743200" cy="1325880"/>
          </a:xfrm>
          <a:prstGeom prst="rect">
            <a:avLst/>
          </a:prstGeom>
          <a:solidFill>
            <a:srgbClr val="EEF0FA"/>
          </a:solidFill>
          <a:ln w="12700">
            <a:solidFill>
              <a:srgbClr val="EEF0FA"/>
            </a:solidFill>
            <a:prstDash val="solid"/>
          </a:ln>
        </p:spPr>
      </p:sp>
      <p:sp>
        <p:nvSpPr>
          <p:cNvPr id="8" name="stat-num"/>
          <p:cNvSpPr txBox="1"/>
          <p:nvPr/>
        </p:nvSpPr>
        <p:spPr>
          <a:xfrm>
            <a:off x="6126480" y="2953512"/>
            <a:ext cx="27432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0B72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1.090</a:t>
            </a:r>
            <a:endParaRPr lang="en-US" sz="3200" dirty="0"/>
          </a:p>
        </p:txBody>
      </p:sp>
      <p:sp>
        <p:nvSpPr>
          <p:cNvPr id="9" name="stat-label"/>
          <p:cNvSpPr txBox="1"/>
          <p:nvPr/>
        </p:nvSpPr>
        <p:spPr>
          <a:xfrm>
            <a:off x="6217920" y="3657600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đơn hàng / giây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 client đồng thời</a:t>
            </a:r>
            <a:endParaRPr lang="en-US" sz="1200" dirty="0"/>
          </a:p>
        </p:txBody>
      </p:sp>
      <p:sp>
        <p:nvSpPr>
          <p:cNvPr id="10" name="bullets"/>
          <p:cNvSpPr txBox="1"/>
          <p:nvPr/>
        </p:nvSpPr>
        <p:spPr>
          <a:xfrm>
            <a:off x="6126480" y="4389120"/>
            <a:ext cx="274320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Tool đo npm run bench: 12 kịch bản × 5 lần, lấy trung vị, xuất Markdown/JSON</a:t>
            </a:r>
            <a:endParaRPr lang="en-US" sz="13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Giám sát: pg_stat_statements, trang Monitor trong admin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503920" y="649224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A1A1A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3"/>
          <p:cNvSpPr/>
          <p:nvPr>
            <p:ph idx="104" type="title" hasCustomPrompt="1"/>
          </p:nvPr>
        </p:nvSpPr>
        <p:spPr>
          <a:xfrm>
            <a:off x="640080" y="457200"/>
            <a:ext cx="841248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Kết luận</a:t>
            </a:r>
            <a:endParaRPr lang="en-US" sz="2800" dirty="0"/>
          </a:p>
        </p:txBody>
      </p:sp>
      <p:sp>
        <p:nvSpPr>
          <p:cNvPr id="3" name="bullets"/>
          <p:cNvSpPr txBox="1"/>
          <p:nvPr/>
        </p:nvSpPr>
        <p:spPr>
          <a:xfrm>
            <a:off x="731520" y="1508760"/>
            <a:ext cx="8138160" cy="3840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PostgreSQL = CSDL quan hệ + đa mô hình: một hệ thống thay cho search engine, cache, hàng đợi và vector DB</a:t>
            </a:r>
            <a:endParaRPr lang="en-US" sz="18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 tính năng gắn 6 nghiệp vụ, đo trên 1 triệu đơn: nhanh hơn 2,6× – 1.000×; 50 client đồng thời không bán quá kho</a:t>
            </a:r>
            <a:endParaRPr lang="en-US" sz="18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Hạn chế: embedding feature hashing, chưa có từ điển tiếng Việt, chưa tinh chỉnh tham số PostgreSQL</a:t>
            </a:r>
            <a:endParaRPr lang="en-US" sz="18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Hướng phát triển: embedding CLIP theo ảnh, pg_cron tự tạo partition &amp; refresh, replication</a:t>
            </a:r>
            <a:endParaRPr lang="en-US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731520" y="5486400"/>
            <a:ext cx="81381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2A10B4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Cảm ơn cô và các bạn đã lắng nghe!</a:t>
            </a:r>
            <a:endParaRPr lang="en-US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503920" y="649224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A1A1A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HUTECH">
  <a:themeElements>
    <a:clrScheme name="HUTECH">
      <a:dk1>
        <a:srgbClr val="1A1A1A"/>
      </a:dk1>
      <a:lt1>
        <a:srgbClr val="FFFFFF"/>
      </a:lt1>
      <a:dk2>
        <a:srgbClr val="2A10B4"/>
      </a:dk2>
      <a:lt2>
        <a:srgbClr val="EEF0FA"/>
      </a:lt2>
      <a:accent1>
        <a:srgbClr val="2A10B4"/>
      </a:accent1>
      <a:accent2>
        <a:srgbClr val="FFC000"/>
      </a:accent2>
      <a:accent3>
        <a:srgbClr val="1E8E3E"/>
      </a:accent3>
      <a:accent4>
        <a:srgbClr val="C62828"/>
      </a:accent4>
      <a:accent5>
        <a:srgbClr val="0B7285"/>
      </a:accent5>
      <a:accent6>
        <a:srgbClr val="666666"/>
      </a:accent6>
      <a:hlink>
        <a:srgbClr val="2A10B4"/>
      </a:hlink>
      <a:folHlink>
        <a:srgbClr val="666666"/>
      </a:folHlink>
    </a:clrScheme>
    <a:fontScheme name="HUTECH">
      <a:majorFont>
        <a:latin typeface="Trebuchet MS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rial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16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Xây dựng hệ thống bán hàng trang sức với PostgreSQL</dc:title>
  <dc:subject>PptxGenJS Presentation</dc:subject>
  <dc:creator>Nhóm 6</dc:creator>
  <cp:lastModifiedBy>Nhóm 6</cp:lastModifiedBy>
  <cp:revision>1</cp:revision>
  <dcterms:created xsi:type="dcterms:W3CDTF">2026-10-27T01:31:26Z</dcterms:created>
  <dcterms:modified xsi:type="dcterms:W3CDTF">2026-10-27T01:31:26Z</dcterms:modified>
</cp:coreProperties>
</file>