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26430d00-58ec-c5fe-32b8-0e9997a2927f}">
          <p14:sldIdLst>
            <p14:sldId id="256"/>
            <p14:sldId id="257"/>
            <p14:sldId id="258"/>
            <p14:sldId id="259"/>
          </p14:sldIdLst>
        </p14:section>
        <p14:section name="Thiết kế" id="{9f1b586f-79dc-dbbc-bd0d-7b5e8daed571}">
          <p14:sldIdLst>
            <p14:sldId id="260"/>
            <p14:sldId id="261"/>
          </p14:sldIdLst>
        </p14:section>
        <p14:section name="6 tính năng" id="{4ae6b3df-6b7f-e3e2-6cc9-9642b54e48ce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Ứng dụng &amp; kết quả" id="{fee89660-aebe-60b8-c5f9-7b818e578f00}">
          <p14:sldIdLst>
            <p14:sldId id="269"/>
            <p14:sldId id="270"/>
          </p14:sldIdLst>
        </p14:section>
        <p14:section name="Kết luận" id="{0eead5ad-caa4-a601-7974-f4b984971f5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Nhanh hơn (lần)</c:v>
                </c:pt>
              </c:strCache>
            </c:strRef>
          </c:tx>
          <c:spPr>
            <a:solidFill>
              <a:srgbClr val="2A10B4"/>
            </a:solidFill>
            <a:effectLst/>
          </c:spPr>
          <c:invertIfNegative val="0"/>
          <c:dLbls>
            <c:numFmt formatCode="0.#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Materialized view</c:v>
                  </c:pt>
                  <c:pt idx="1">
                    <c:v>Partial index</c:v>
                  </c:pt>
                  <c:pt idx="2">
                    <c:v>Covering index</c:v>
                  </c:pt>
                  <c:pt idx="3">
                    <c:v>JSONB @&gt; (GIN)</c:v>
                  </c:pt>
                  <c:pt idx="4">
                    <c:v>Partition pruning</c:v>
                  </c:pt>
                  <c:pt idx="5">
                    <c:v>Full-text (GIN)</c:v>
                  </c:pt>
                  <c:pt idx="6">
                    <c:v>pgvector HNSW</c:v>
                  </c:pt>
                  <c:pt idx="7">
                    <c:v>Trigram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1077</c:v>
                </c:pt>
                <c:pt idx="1">
                  <c:v>484</c:v>
                </c:pt>
                <c:pt idx="2">
                  <c:v>251</c:v>
                </c:pt>
                <c:pt idx="3">
                  <c:v>34</c:v>
                </c:pt>
                <c:pt idx="4">
                  <c:v>20</c:v>
                </c:pt>
                <c:pt idx="5">
                  <c:v>9.6</c:v>
                </c:pt>
                <c:pt idx="6">
                  <c:v>7.4</c:v>
                </c:pt>
                <c:pt idx="7">
                  <c:v>2.6</c:v>
                </c:pt>
              </c:numCache>
            </c:numRef>
          </c:val>
        </c:ser>
        <c:dLbls>
          <c:numFmt formatCode="0.#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nhóm và đề tài.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products: attributes JSONB, search_vec tsvector generated, embedding vector(256). orders: partition theo tháng, total 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UTE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jewelry-shop-postgres/docs/img/tpl/hutech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" y="27432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352" y="45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02920" y="457200"/>
            <a:ext cx="8641080" cy="749808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1207008"/>
            <a:ext cx="502920" cy="5650992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ilding" descr="/home/claude/jewelry-shop-postgres/docs/img/tpl/building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1645920"/>
            <a:ext cx="1691640" cy="5212080"/>
          </a:xfrm>
          <a:prstGeom prst="rect">
            <a:avLst/>
          </a:prstGeom>
        </p:spPr>
      </p:pic>
      <p:pic>
        <p:nvPicPr>
          <p:cNvPr id="3" name="logo" descr="/home/claude/jewelry-shop-postgres/docs/img/tpl/hutech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74520" y="548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3000" dirty="0"/>
          </a:p>
        </p:txBody>
      </p:sp>
      <p:sp>
        <p:nvSpPr>
          <p:cNvPr id="5" name="cover-bg"/>
          <p:cNvSpPr/>
          <p:nvPr/>
        </p:nvSpPr>
        <p:spPr>
          <a:xfrm>
            <a:off x="1691640" y="1645920"/>
            <a:ext cx="7452360" cy="5212080"/>
          </a:xfrm>
          <a:prstGeom prst="rect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920240" y="21031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D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TIỂU LUẬN MÔN CƠ SỞ DỮ LIỆU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920240" y="265176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XÂY DỰNG HỆ THỐNG BÁN HÀNG TRANG SỨC VỚI POSTGRESQL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920240" y="448056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920240" y="493776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Phùng Anh Tuấn – 2541864024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Võ Bùi Duy Thông – 2541864019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920240" y="5989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GVHD: ……………………………   ·  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Nội dung</a:t>
            </a:r>
            <a:endParaRPr lang="en-US" sz="2800" dirty="0"/>
          </a:p>
        </p:txBody>
      </p:sp>
      <p:sp>
        <p:nvSpPr>
          <p:cNvPr id="3" name="pill"/>
          <p:cNvSpPr/>
          <p:nvPr/>
        </p:nvSpPr>
        <p:spPr>
          <a:xfrm>
            <a:off x="1188720" y="15087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pill-dot"/>
          <p:cNvSpPr/>
          <p:nvPr/>
        </p:nvSpPr>
        <p:spPr>
          <a:xfrm>
            <a:off x="1280160" y="15819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PostgreSQL</a:t>
            </a:r>
            <a:endParaRPr lang="en-US" sz="1500" dirty="0"/>
          </a:p>
        </p:txBody>
      </p:sp>
      <p:sp>
        <p:nvSpPr>
          <p:cNvPr id="7" name="pill"/>
          <p:cNvSpPr/>
          <p:nvPr/>
        </p:nvSpPr>
        <p:spPr>
          <a:xfrm>
            <a:off x="1188720" y="228600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pill-dot"/>
          <p:cNvSpPr/>
          <p:nvPr/>
        </p:nvSpPr>
        <p:spPr>
          <a:xfrm>
            <a:off x="1280160" y="235915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3591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2860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 &amp; thiết kế CSDL</a:t>
            </a:r>
            <a:endParaRPr lang="en-US" sz="1500" dirty="0"/>
          </a:p>
        </p:txBody>
      </p:sp>
      <p:sp>
        <p:nvSpPr>
          <p:cNvPr id="11" name="pill"/>
          <p:cNvSpPr/>
          <p:nvPr/>
        </p:nvSpPr>
        <p:spPr>
          <a:xfrm>
            <a:off x="1188720" y="306324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pill-dot"/>
          <p:cNvSpPr/>
          <p:nvPr/>
        </p:nvSpPr>
        <p:spPr>
          <a:xfrm>
            <a:off x="1280160" y="313639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3639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063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nổi bật gắn với nghiệp vụ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1188720" y="384048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pill-dot"/>
          <p:cNvSpPr/>
          <p:nvPr/>
        </p:nvSpPr>
        <p:spPr>
          <a:xfrm>
            <a:off x="1280160" y="391363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91363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84048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loại index đặc biệt</a:t>
            </a:r>
            <a:endParaRPr lang="en-US" sz="1500" dirty="0"/>
          </a:p>
        </p:txBody>
      </p:sp>
      <p:sp>
        <p:nvSpPr>
          <p:cNvPr id="19" name="pill"/>
          <p:cNvSpPr/>
          <p:nvPr/>
        </p:nvSpPr>
        <p:spPr>
          <a:xfrm>
            <a:off x="1188720" y="461772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0" name="pill-dot"/>
          <p:cNvSpPr/>
          <p:nvPr/>
        </p:nvSpPr>
        <p:spPr>
          <a:xfrm>
            <a:off x="1280160" y="469087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69087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6177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demo &amp; benchmark</a:t>
            </a:r>
            <a:endParaRPr lang="en-US" sz="1500" dirty="0"/>
          </a:p>
        </p:txBody>
      </p:sp>
      <p:sp>
        <p:nvSpPr>
          <p:cNvPr id="23" name="pill"/>
          <p:cNvSpPr/>
          <p:nvPr/>
        </p:nvSpPr>
        <p:spPr>
          <a:xfrm>
            <a:off x="1188720" y="53949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4" name="pill-dot"/>
          <p:cNvSpPr/>
          <p:nvPr/>
        </p:nvSpPr>
        <p:spPr>
          <a:xfrm>
            <a:off x="1280160" y="54681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54681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53949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Vì sao chọn PostgreSQL?</a:t>
            </a:r>
            <a:endParaRPr lang="en-US" sz="2800" dirty="0"/>
          </a:p>
        </p:txBody>
      </p:sp>
      <p:sp>
        <p:nvSpPr>
          <p:cNvPr id="3" name="stat-bg"/>
          <p:cNvSpPr/>
          <p:nvPr/>
        </p:nvSpPr>
        <p:spPr>
          <a:xfrm>
            <a:off x="731520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stat-num"/>
          <p:cNvSpPr txBox="1"/>
          <p:nvPr/>
        </p:nvSpPr>
        <p:spPr>
          <a:xfrm>
            <a:off x="731520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3200" dirty="0"/>
          </a:p>
        </p:txBody>
      </p:sp>
      <p:sp>
        <p:nvSpPr>
          <p:cNvPr id="5" name="stat-label"/>
          <p:cNvSpPr txBox="1"/>
          <p:nvPr/>
        </p:nvSpPr>
        <p:spPr>
          <a:xfrm>
            <a:off x="8229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DB-Engines (sau Oracle,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MySQL, SQL Server)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2807208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2807208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+21,97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2898648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nửa đầu 2026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mạnh nhất top 5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4882896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4882896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lần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4974336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of the Year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 · 2018 · 2020 · 2023</a:t>
            </a:r>
            <a:endParaRPr lang="en-US" sz="1200" dirty="0"/>
          </a:p>
        </p:txBody>
      </p:sp>
      <p:sp>
        <p:nvSpPr>
          <p:cNvPr id="12" name="stat-bg"/>
          <p:cNvSpPr/>
          <p:nvPr/>
        </p:nvSpPr>
        <p:spPr>
          <a:xfrm>
            <a:off x="6958584" y="1463040"/>
            <a:ext cx="1911096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3" name="stat-num"/>
          <p:cNvSpPr txBox="1"/>
          <p:nvPr/>
        </p:nvSpPr>
        <p:spPr>
          <a:xfrm>
            <a:off x="6958584" y="1536192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4" name="stat-label"/>
          <p:cNvSpPr txBox="1"/>
          <p:nvPr/>
        </p:nvSpPr>
        <p:spPr>
          <a:xfrm>
            <a:off x="7050024" y="2240280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nguồn mở, không có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Enterprise thu phí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CSDL quan hệ + đa mô hình trong một hệ thống</a:t>
            </a:r>
            <a:endParaRPr lang="en-US" sz="2000" dirty="0"/>
          </a:p>
        </p:txBody>
      </p:sp>
      <p:sp>
        <p:nvSpPr>
          <p:cNvPr id="16" name="bullets"/>
          <p:cNvSpPr txBox="1"/>
          <p:nvPr/>
        </p:nvSpPr>
        <p:spPr>
          <a:xfrm>
            <a:off x="731520" y="3611880"/>
            <a:ext cx="8138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JSONB, mảng, full-text search, pgvector… ngay trong SQL chuẩn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loại index: B-tree, Hash, GIN, GiST, SP-GiST, BRIN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khai báo, materialized view, trigger, PL/pgSQL, LISTEN/NOTIFY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nhóm cùng chọn PostgreSQL → nhóm 6 làm theo cách: mỗi tính năng gắn 1 nghiệp vụ thật và có số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đặc thù nghiệp vụ – 6 tính năng PostgreSQL</a:t>
            </a:r>
            <a:endParaRPr lang="en-US" sz="28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383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Đặc thù bán trang sức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năng PostgreSQL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Mỗi loại trang sức có thuộc tính khác nhau (ni, carat, dài dây…)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JSONB + GIN index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Khách gõ không dấu, sai chính tả vẫn phải tìm 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Full-text search + unaccent + pg_trgm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Gợi ý “sản phẩm giống” khi xem chi tiết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pgvector + HNSW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Đơn hàng tăng mãi theo thời gian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Partitioning theo tháng + BRIN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Tồn kho ít, 2 khách mua cùng lúc chiếc cuối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Transaction + SELECT … FOR UPDATE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Dashboard nhanh, báo hết hàng tức thì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 + LISTEN/NOTIFY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Kiến trúc hệ thống</a:t>
            </a:r>
            <a:endParaRPr lang="en-US" sz="2800" dirty="0"/>
          </a:p>
        </p:txBody>
      </p:sp>
      <p:pic>
        <p:nvPicPr>
          <p:cNvPr id="3" name="architecture.jpg" descr="/home/claude/jewelry-shop-postgres/docs/img/archite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8138160" cy="192024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31520" y="352044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pgvector · Node.js + Fastify, SQL thuần (không ORM) · Next.js 15 (khách + admin)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quan trọng nằm trong CSDL: hàm place_order(), cancel_order(), trigger 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file migration SQL; trình chạy migration tự viết 60 dòng, mỗi file = 1 transaction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→ db + api + web + Grafana; npm run seed:big → 1 triệu đơn, npm run bench → báo cáo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Thiết kế CSDL: 8 bảng</a:t>
            </a:r>
            <a:endParaRPr lang="en-US" sz="2800" dirty="0"/>
          </a:p>
        </p:txBody>
      </p:sp>
      <p:pic>
        <p:nvPicPr>
          <p:cNvPr id="3" name="erd.jpg" descr="/home/claude/jewelry-shop-postgres/docs/img/e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81381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60350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tô màu = nơi áp dụng tính năng đặc biệt của PostgreSQL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JSONB – thuộc tính sản phẩm linh hoạt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6576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attributes JSONB NOT NULL DEFAULT '{}'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idx_products_attributes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GIN (attributes jsonb_path_ops);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Nhẫn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trắng 18K","ring_size":12,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"stone":"Kim cương","carat":0.5}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Dây chuyền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24K","length_cm":50}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Lọc: 1 câu SQL cho mọi tổ hợp thuộc tính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attributes @&gt;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'{"metal":"Vàng 18K","stone":"Kim cương"}'</a:t>
            </a:r>
            <a:endParaRPr lang="en-US" sz="13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34×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nhanh hơn quét tuần tự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0,06 ms so với 2,1 ms</a:t>
            </a:r>
            <a:endParaRPr lang="en-US" sz="1200" dirty="0"/>
          </a:p>
        </p:txBody>
      </p:sp>
      <p:sp>
        <p:nvSpPr>
          <p:cNvPr id="8" name="bullets"/>
          <p:cNvSpPr txBox="1"/>
          <p:nvPr/>
        </p:nvSpPr>
        <p:spPr>
          <a:xfrm>
            <a:off x="6035040" y="29260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ALTER TABLE khi thêm loại trang sức mới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thêm/xoá thuộc tính ngay trên giao diện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lọc bên trái cũng sinh từ JSONB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212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Bitmap Index Scan on idx_products_attributes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Full-text search tiếng Việt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Hàm bỏ dấu, IMMUTABLE để dùng trong index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vi_unaccent(text) ... IMMUTABLE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$$ SELECT lower(unaccent($1)) $$;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tsvector sinh tự động (generated column)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search_vec TSVECTOR GENERATED ALWAYS AS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to_tsvector('simple', vi_unaccent(name)) ...) STORED;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(search_vec);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(vi_unaccent(name) gin_trgm_ops);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1: search_vec @@ plainto_tsquery(vi_unaccent($1))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2: vi_unaccent(name) % 'nhan kim cuog solitare'</a:t>
            </a:r>
            <a:endParaRPr lang="en-US" sz="1200" dirty="0"/>
          </a:p>
        </p:txBody>
      </p:sp>
      <p:pic>
        <p:nvPicPr>
          <p:cNvPr id="5" name="05-tim-kiem-trigram.jpg" descr="/home/claude/jewelry-shop-postgres/docs/img/05-tim-kiem-trigr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83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35040" y="3246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“nhan kim cuog solitare” → Nhẫn kim cương vàng 18K Solitaire (trigram 0,44)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035040" y="41605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035040" y="42336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9,6×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126480" y="4937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FTS có GIN so với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tuần tự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48463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dấu / có dấu đều khớp, xếp hạng ts_rank, tô đậm ts_headline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Gõ sai chính tả → tự chuyển sang trigram (pg_trgm)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khi gõ bằng prefix search  nha:* &amp; kim:*  — không cần Elasticsearch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pgvector – gợi ý sản phẩm tương tự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embedding vector(256)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hnsw (embedding vector_cosine_ops);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-- 8 sản phẩm gần nhất, &lt;=&gt; = khoảng cách cosine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1 - (p.embedding &lt;=&gt; me.embedding) AS sim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products p,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(SELECT embedding FROM products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WHERE slug = $1) 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p.embedding &lt;=&gt; me.embedding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8;</a:t>
            </a:r>
            <a:endParaRPr lang="en-US" sz="1200" dirty="0"/>
          </a:p>
        </p:txBody>
      </p:sp>
      <p:pic>
        <p:nvPicPr>
          <p:cNvPr id="5" name="03-chi-tiet-pgvector.jpg" descr="/home/claude/jewelry-shop-postgres/docs/img/03-chi-tiet-pgvect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365760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demo bằng feature hashing: tên + danh mục + thuộc tính JSONB → 256 chiều, không cần API ngoài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 bằng OpenAI / CLIP sau này chỉ đổi 1 hàm; schema và SQL giữ nguyên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HNSW: 0,23 ms so với 1,7 ms khi tính khoảng cách cho toàn bộ 3.033 vector (7,4×)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Partitioning theo tháng + BRIN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3774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BIGSERIAL, created_at TIMESTAMPTZ NOT NULL,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(id, created_at)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PARTITION BY RANGE (created_at);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orders_2026_10 PARTITION OF orders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VALUES FROM ('2026-10-01') TO ('2026-11-01');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ON orders USING BRIN (created_at);</a:t>
            </a:r>
            <a:endParaRPr lang="en-US" sz="12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37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được quét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triệu đơn) nhờ pruning</a:t>
            </a:r>
            <a:endParaRPr lang="en-US" sz="1200" dirty="0"/>
          </a:p>
        </p:txBody>
      </p:sp>
      <p:sp>
        <p:nvSpPr>
          <p:cNvPr id="8" name="stat-bg"/>
          <p:cNvSpPr/>
          <p:nvPr/>
        </p:nvSpPr>
        <p:spPr>
          <a:xfrm>
            <a:off x="6035040" y="288036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9" name="stat-num"/>
          <p:cNvSpPr txBox="1"/>
          <p:nvPr/>
        </p:nvSpPr>
        <p:spPr>
          <a:xfrm>
            <a:off x="6035040" y="29535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888 kB</a:t>
            </a:r>
            <a:endParaRPr lang="en-US" sz="3200" dirty="0"/>
          </a:p>
        </p:txBody>
      </p:sp>
      <p:sp>
        <p:nvSpPr>
          <p:cNvPr id="10" name="stat-label"/>
          <p:cNvSpPr txBox="1"/>
          <p:nvPr/>
        </p:nvSpPr>
        <p:spPr>
          <a:xfrm>
            <a:off x="612648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 so với 23 MB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B-tree cùng cột (26×)</a:t>
            </a:r>
            <a:endParaRPr lang="en-US" sz="1200" dirty="0"/>
          </a:p>
        </p:txBody>
      </p:sp>
      <p:pic>
        <p:nvPicPr>
          <p:cNvPr id="11" name="10-admin-benchmark-explain.jpg" descr="/home/claude/jewelry-shop-postgres/docs/img/10-admin-benchmark-expla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3931920"/>
            <a:ext cx="5120640" cy="1920240"/>
          </a:xfrm>
          <a:prstGeom prst="rect">
            <a:avLst/>
          </a:prstGeom>
        </p:spPr>
      </p:pic>
      <p:sp>
        <p:nvSpPr>
          <p:cNvPr id="12" name="bullets"/>
          <p:cNvSpPr txBox="1"/>
          <p:nvPr/>
        </p:nvSpPr>
        <p:spPr>
          <a:xfrm>
            <a:off x="6035040" y="43434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2 tuần: 3,3 ms so với 66 ms (20×)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 đơn cũ = DETACH 1 partition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mới: ensure_orders_partition()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Transaction + FOR UPDATE – chống bán quá kho</a:t>
            </a:r>
            <a:endParaRPr lang="en-US" sz="2800" dirty="0"/>
          </a:p>
        </p:txBody>
      </p:sp>
      <p:pic>
        <p:nvPicPr>
          <p:cNvPr id="3" name="order_flow.jpg" descr="/home/claude/jewelry-shop-postgres/docs/img/order_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2743200" cy="5029200"/>
          </a:xfrm>
          <a:prstGeom prst="rect">
            <a:avLst/>
          </a:prstGeom>
        </p:spPr>
      </p:pic>
      <p:sp>
        <p:nvSpPr>
          <p:cNvPr id="4" name="code-bg"/>
          <p:cNvSpPr/>
          <p:nvPr/>
        </p:nvSpPr>
        <p:spPr>
          <a:xfrm>
            <a:off x="3657600" y="1371600"/>
            <a:ext cx="5212080" cy="324612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3767328" y="1444752"/>
            <a:ext cx="4992624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place_order(): 1 hàm PL/pgSQL = 1 transaction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p.id, p.name, p.stock, i.qty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jsonb_to_recordset(p_items)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products p ON p.id = i.product_id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p.id    -- khoá cùng thứ tự, tránh deadlock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UPDATE OF p  -- giao dịch 2 phải CHỜ giao dịch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r.stock &lt; r.qty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EXCEPTION 'OUT_OF_STOCK: % chỉ còn %',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LOOP;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INSERT orders, order_items; UPDATE stock;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CHECK (stock &gt;= 0) là hàng rào cuối cùng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365760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365760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50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374904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mua được khi kho =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client bị OUT_OF_STOCK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635508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635508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644652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/ giây với 30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CSDL 1 triệu đơn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Materialized view + LISTEN/NOTIFY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2860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MATERIALIZED VIEW mv_sales_daily 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date_trunc('day', created_at)::date AS day,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orders, sum(total) AS revenue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UNIQUE INDEX ON mv_sales_daily (day);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CONCURRENTLY mv_sales_daily;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Trigger: stock &lt; 3 → pg_notify('low_stock', json)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Node.js: LISTEN low_stock → SSE → trình duyệt admin</a:t>
            </a:r>
            <a:endParaRPr lang="en-US" sz="1200" dirty="0"/>
          </a:p>
        </p:txBody>
      </p:sp>
      <p:pic>
        <p:nvPicPr>
          <p:cNvPr id="5" name="13-admin-notify-sse.jpg" descr="/home/claude/jewelry-shop-postgres/docs/img/13-admin-notify-s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37360"/>
          </a:xfrm>
          <a:prstGeom prst="rect">
            <a:avLst/>
          </a:prstGeom>
        </p:spPr>
      </p:pic>
      <p:sp>
        <p:nvSpPr>
          <p:cNvPr id="6" name="stat-bg"/>
          <p:cNvSpPr/>
          <p:nvPr/>
        </p:nvSpPr>
        <p:spPr>
          <a:xfrm>
            <a:off x="73152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73152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1.000×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82296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30 ngày: 0,018 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19 ms tính trực tiếp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338328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338328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0,1 s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347472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tới 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F5, không Redis</a:t>
            </a:r>
            <a:endParaRPr lang="en-US" sz="1200" dirty="0"/>
          </a:p>
        </p:txBody>
      </p:sp>
      <p:pic>
        <p:nvPicPr>
          <p:cNvPr id="12" name="07-admin-dashboard.jpg" descr="/home/claude/jewelry-shop-postgres/docs/img/07-admin-dashboa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3291840"/>
            <a:ext cx="2834640" cy="3108960"/>
          </a:xfrm>
          <a:prstGeom prst="rect">
            <a:avLst/>
          </a:prstGeom>
        </p:spPr>
      </p:pic>
      <p:sp>
        <p:nvSpPr>
          <p:cNvPr id="13" name="bullets"/>
          <p:cNvSpPr txBox="1"/>
          <p:nvPr/>
        </p:nvSpPr>
        <p:spPr>
          <a:xfrm>
            <a:off x="731520" y="53949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CONCURRENTLY: không chặn người đọc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“hôm nay” tính trực tiếp trên partition tháng này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Các loại index đặc biệt khác</a:t>
            </a:r>
            <a:endParaRPr lang="en-US" sz="28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hệ thống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Lợi ích đo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(created_at) WHERE status IN (pending, confirmed)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 ms so với 98 ms trên 1 triệu đơn (480×)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Covering index (INCLUDE)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(customer_id, created_at) INCLUDE (id, status, total)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Only Scan, Heap Fetches = 0; 250×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Expression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customers (lower(email))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email không phân biệt hoa thường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Generated column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= subtotal + shipping_fee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search_vec = to_tsvector(...)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CSDL tự tính, app không ghi sai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GIN / HNSW / BRIN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JSONB, tsvector, trigram, vector, thời gian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2,6× – 34× so với quét tuần tự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57607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index gắn với đúng 1 truy vấn của ứng dụng — theo dõi lượt dùng bằng pg_stat_user_indexes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Ứng dụng: trang bán hàng và trang quản trị</a:t>
            </a:r>
            <a:endParaRPr lang="en-US" sz="2800" dirty="0"/>
          </a:p>
        </p:txBody>
      </p:sp>
      <p:pic>
        <p:nvPicPr>
          <p:cNvPr id="3" name="01-trang-chu.jpg" descr="/home/claude/jewelry-shop-postgres/docs/img/01-trang-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2606040" cy="3291840"/>
          </a:xfrm>
          <a:prstGeom prst="rect">
            <a:avLst/>
          </a:prstGeom>
        </p:spPr>
      </p:pic>
      <p:pic>
        <p:nvPicPr>
          <p:cNvPr id="4" name="02-danh-sach-loc-jsonb.jpg" descr="/home/claude/jewelry-shop-postgres/docs/img/02-danh-sach-loc-json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93008" y="1417320"/>
            <a:ext cx="2606040" cy="3291840"/>
          </a:xfrm>
          <a:prstGeom prst="rect">
            <a:avLst/>
          </a:prstGeom>
        </p:spPr>
      </p:pic>
      <p:pic>
        <p:nvPicPr>
          <p:cNvPr id="5" name="09-admin-san-pham-jsonb.jpg" descr="/home/claude/jewelry-shop-postgres/docs/img/09-admin-san-pham-json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54496" y="1417320"/>
            <a:ext cx="2615184" cy="329184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731520" y="4800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 ·  Lọc JSONB  ·  Admin: sửa thuộc tính &amp; nhập kho</a:t>
            </a:r>
            <a:endParaRPr lang="en-US" sz="1400" dirty="0"/>
          </a:p>
        </p:txBody>
      </p:sp>
      <p:sp>
        <p:nvSpPr>
          <p:cNvPr id="7" name="bullets"/>
          <p:cNvSpPr txBox="1"/>
          <p:nvPr/>
        </p:nvSpPr>
        <p:spPr>
          <a:xfrm>
            <a:off x="731520" y="530352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trực tiếp: tìm kiếm không dấu / sai chính tả, đặt hàng chiếc cuối từ 2 trình duyệt, cảnh báo real-time, trang Monitor &amp; Benchmark chạy EXPLAIN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Benchmark: có index nhanh hơn bao nhiêu?</a:t>
            </a:r>
            <a:endParaRPr lang="en-US" sz="2800" dirty="0"/>
          </a:p>
        </p:txBody>
      </p:sp>
      <p:graphicFrame>
        <p:nvGraphicFramePr>
          <p:cNvPr id="3" name="speedup-chart" descr=""/>
          <p:cNvGraphicFramePr/>
          <p:nvPr/>
        </p:nvGraphicFramePr>
        <p:xfrm>
          <a:off x="731520" y="1371600"/>
          <a:ext cx="5212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bg"/>
          <p:cNvSpPr/>
          <p:nvPr/>
        </p:nvSpPr>
        <p:spPr>
          <a:xfrm>
            <a:off x="6126480" y="141732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stat-num"/>
          <p:cNvSpPr txBox="1"/>
          <p:nvPr/>
        </p:nvSpPr>
        <p:spPr>
          <a:xfrm>
            <a:off x="6126480" y="14904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triệu</a:t>
            </a:r>
            <a:endParaRPr lang="en-US" sz="3200" dirty="0"/>
          </a:p>
        </p:txBody>
      </p:sp>
      <p:sp>
        <p:nvSpPr>
          <p:cNvPr id="6" name="stat-label"/>
          <p:cNvSpPr txBox="1"/>
          <p:nvPr/>
        </p:nvSpPr>
        <p:spPr>
          <a:xfrm>
            <a:off x="621792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37 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seed:big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126480" y="288036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126480" y="295351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21792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giây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client đồng thời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6126480" y="4389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đo npm run bench: 12 kịch bản × 5 lần, lấy trung vị, xuất Markdown/JSON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Giám sát: pg_stat_statements, Grafana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Kết luận</a:t>
            </a:r>
            <a:endParaRPr lang="en-US" sz="2800" dirty="0"/>
          </a:p>
        </p:txBody>
      </p:sp>
      <p:sp>
        <p:nvSpPr>
          <p:cNvPr id="3" name="bullets"/>
          <p:cNvSpPr txBox="1"/>
          <p:nvPr/>
        </p:nvSpPr>
        <p:spPr>
          <a:xfrm>
            <a:off x="731520" y="15087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= CSDL quan hệ + đa mô hình: một hệ thống thay cho search engine, cache, hàng đợi và vector DB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gắn 6 nghiệp vụ, đo trên 1 triệu đơn: nhanh hơn 2,6× – 1.000×; 50 client đồng thời không bán quá kho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chế: embedding feature hashing, chưa có từ điển tiếng Việt, chưa tinh chỉnh tham số PostgreSQL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phát triển: embedding CLIP theo ảnh, pg_cron tự tạo partition &amp; refresh, replication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86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10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Cảm ơn cô và các bạn đã lắng nghe!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TECH">
  <a:themeElements>
    <a:clrScheme name="HUTECH">
      <a:dk1>
        <a:srgbClr val="1A1A1A"/>
      </a:dk1>
      <a:lt1>
        <a:srgbClr val="FFFFFF"/>
      </a:lt1>
      <a:dk2>
        <a:srgbClr val="2A10B4"/>
      </a:dk2>
      <a:lt2>
        <a:srgbClr val="EEF0FA"/>
      </a:lt2>
      <a:accent1>
        <a:srgbClr val="2A10B4"/>
      </a:accent1>
      <a:accent2>
        <a:srgbClr val="FFC000"/>
      </a:accent2>
      <a:accent3>
        <a:srgbClr val="1E8E3E"/>
      </a:accent3>
      <a:accent4>
        <a:srgbClr val="C62828"/>
      </a:accent4>
      <a:accent5>
        <a:srgbClr val="0B7285"/>
      </a:accent5>
      <a:accent6>
        <a:srgbClr val="666666"/>
      </a:accent6>
      <a:hlink>
        <a:srgbClr val="2A10B4"/>
      </a:hlink>
      <a:folHlink>
        <a:srgbClr val="666666"/>
      </a:folHlink>
    </a:clrScheme>
    <a:fontScheme name="HUTECH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bán hàng trang sức với PostgreSQL</dc:title>
  <dc:subject>PptxGenJS Presentation</dc:subject>
  <dc:creator>Nhóm 6</dc:creator>
  <cp:lastModifiedBy>Nhóm 6</cp:lastModifiedBy>
  <cp:revision>1</cp:revision>
  <dcterms:created xsi:type="dcterms:W3CDTF">2026-10-26T15:45:34Z</dcterms:created>
  <dcterms:modified xsi:type="dcterms:W3CDTF">2026-10-26T15:45:34Z</dcterms:modified>
</cp:coreProperties>
</file>