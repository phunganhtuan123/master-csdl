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72c58e4e-0849-25fd-5232-c00fa3e9411c}">
          <p14:sldIdLst>
            <p14:sldId id="256"/>
            <p14:sldId id="257"/>
            <p14:sldId id="258"/>
            <p14:sldId id="259"/>
          </p14:sldIdLst>
        </p14:section>
        <p14:section name="Thiết kế" id="{ed59bb3e-1a72-cf8e-adbf-aa66fc8a9f61}">
          <p14:sldIdLst>
            <p14:sldId id="260"/>
            <p14:sldId id="261"/>
          </p14:sldIdLst>
        </p14:section>
        <p14:section name="6 tính năng" id="{72ab7be9-7cb2-1f75-838e-bad8b574453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Ứng dụng &amp; kết quả" id="{ba93907b-2b7d-9a76-b2d2-bcc882405cb7}">
          <p14:sldIdLst>
            <p14:sldId id="269"/>
            <p14:sldId id="270"/>
          </p14:sldIdLst>
        </p14:section>
        <p14:section name="Kết luận" id="{48fa4e8d-6621-dd58-3ac2-c827d64a5a0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Nhanh hơn (lần)</c:v>
                </c:pt>
              </c:strCache>
            </c:strRef>
          </c:tx>
          <c:spPr>
            <a:solidFill>
              <a:srgbClr val="2A10B4"/>
            </a:solidFill>
            <a:effectLst/>
          </c:spPr>
          <c:invertIfNegative val="0"/>
          <c:dLbls>
            <c:numFmt formatCode="0.#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Materialized view</c:v>
                  </c:pt>
                  <c:pt idx="1">
                    <c:v>JSONB @&gt; (GIN)</c:v>
                  </c:pt>
                  <c:pt idx="2">
                    <c:v>Partial index</c:v>
                  </c:pt>
                  <c:pt idx="3">
                    <c:v>Full-text (GIN)</c:v>
                  </c:pt>
                  <c:pt idx="4">
                    <c:v>Partition pruning</c:v>
                  </c:pt>
                  <c:pt idx="5">
                    <c:v>pgvector HNSW</c:v>
                  </c:pt>
                  <c:pt idx="6">
                    <c:v>Trigram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150</c:v>
                </c:pt>
                <c:pt idx="1">
                  <c:v>28</c:v>
                </c:pt>
                <c:pt idx="2">
                  <c:v>16</c:v>
                </c:pt>
                <c:pt idx="3">
                  <c:v>7</c:v>
                </c:pt>
                <c:pt idx="4">
                  <c:v>5.9</c:v>
                </c:pt>
                <c:pt idx="5">
                  <c:v>5.6</c:v>
                </c:pt>
                <c:pt idx="6">
                  <c:v>2.5</c:v>
                </c:pt>
              </c:numCache>
            </c:numRef>
          </c:val>
        </c:ser>
        <c:dLbls>
          <c:numFmt formatCode="0.#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nhóm và đề tài.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products: attributes JSONB, search_vec tsvector generated, embedding vector(256). orders: partition theo tháng, total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UTE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ewelry-shop-postgres/docs/img/tpl/hutech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" y="27432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45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HUTECH University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02920" y="457200"/>
            <a:ext cx="8641080" cy="749808"/>
          </a:xfrm>
          <a:prstGeom prst="rect">
            <a:avLst/>
          </a:prstGeom>
          <a:solidFill>
            <a:srgbClr val="2A10B4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07008"/>
            <a:ext cx="502920" cy="5650992"/>
          </a:xfrm>
          <a:prstGeom prst="rect">
            <a:avLst/>
          </a:prstGeom>
          <a:solidFill>
            <a:srgbClr val="2A10B4"/>
          </a:solidFill>
          <a:ln/>
        </p:spPr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ding" descr="/home/claude/jewelry-shop-postgres/docs/img/tpl/building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1645920"/>
            <a:ext cx="1691640" cy="5212080"/>
          </a:xfrm>
          <a:prstGeom prst="rect">
            <a:avLst/>
          </a:prstGeom>
        </p:spPr>
      </p:pic>
      <p:pic>
        <p:nvPicPr>
          <p:cNvPr id="3" name="logo" descr="/home/claude/jewelry-shop-postgres/docs/img/tpl/hutech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HUTECH University</a:t>
            </a:r>
            <a:endParaRPr lang="en-US" sz="3000" dirty="0"/>
          </a:p>
        </p:txBody>
      </p:sp>
      <p:sp>
        <p:nvSpPr>
          <p:cNvPr id="5" name="cover-bg"/>
          <p:cNvSpPr/>
          <p:nvPr/>
        </p:nvSpPr>
        <p:spPr>
          <a:xfrm>
            <a:off x="1691640" y="1645920"/>
            <a:ext cx="7452360" cy="5212080"/>
          </a:xfrm>
          <a:prstGeom prst="rect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920240" y="21031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FFD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TIỂU LUẬN MÔN CƠ SỞ DỮ LIỆU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920240" y="265176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XÂY DỰNG HỆ THỐNG BÁN HÀNG TRANG SỨC VỚI POSTGRESQL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920240" y="44805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6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920240" y="49377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Phùng Anh Tuấn – 2541864024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Võ Bùi Duy Thông – 2541864019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5989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……………………………   ·   Tháng 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Nội dung</a:t>
            </a:r>
            <a:endParaRPr lang="en-US" sz="2800" dirty="0"/>
          </a:p>
        </p:txBody>
      </p:sp>
      <p:sp>
        <p:nvSpPr>
          <p:cNvPr id="3" name="pill"/>
          <p:cNvSpPr/>
          <p:nvPr/>
        </p:nvSpPr>
        <p:spPr>
          <a:xfrm>
            <a:off x="1188720" y="150876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A10B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pill-dot"/>
          <p:cNvSpPr/>
          <p:nvPr/>
        </p:nvSpPr>
        <p:spPr>
          <a:xfrm>
            <a:off x="1280160" y="1581912"/>
            <a:ext cx="356616" cy="356616"/>
          </a:xfrm>
          <a:prstGeom prst="ellipse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8191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087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chọn PostgreSQL</a:t>
            </a:r>
            <a:endParaRPr lang="en-US" sz="1500" dirty="0"/>
          </a:p>
        </p:txBody>
      </p:sp>
      <p:sp>
        <p:nvSpPr>
          <p:cNvPr id="7" name="pill"/>
          <p:cNvSpPr/>
          <p:nvPr/>
        </p:nvSpPr>
        <p:spPr>
          <a:xfrm>
            <a:off x="1188720" y="228600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A10B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pill-dot"/>
          <p:cNvSpPr/>
          <p:nvPr/>
        </p:nvSpPr>
        <p:spPr>
          <a:xfrm>
            <a:off x="1280160" y="2359152"/>
            <a:ext cx="356616" cy="356616"/>
          </a:xfrm>
          <a:prstGeom prst="ellipse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3591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2860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 &amp; thiết kế CSDL</a:t>
            </a:r>
            <a:endParaRPr lang="en-US" sz="1500" dirty="0"/>
          </a:p>
        </p:txBody>
      </p:sp>
      <p:sp>
        <p:nvSpPr>
          <p:cNvPr id="11" name="pill"/>
          <p:cNvSpPr/>
          <p:nvPr/>
        </p:nvSpPr>
        <p:spPr>
          <a:xfrm>
            <a:off x="1188720" y="306324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A10B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pill-dot"/>
          <p:cNvSpPr/>
          <p:nvPr/>
        </p:nvSpPr>
        <p:spPr>
          <a:xfrm>
            <a:off x="1280160" y="3136392"/>
            <a:ext cx="356616" cy="356616"/>
          </a:xfrm>
          <a:prstGeom prst="ellipse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13639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063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tính năng nổi bật gắn với nghiệp vụ</a:t>
            </a:r>
            <a:endParaRPr lang="en-US" sz="1500" dirty="0"/>
          </a:p>
        </p:txBody>
      </p:sp>
      <p:sp>
        <p:nvSpPr>
          <p:cNvPr id="15" name="pill"/>
          <p:cNvSpPr/>
          <p:nvPr/>
        </p:nvSpPr>
        <p:spPr>
          <a:xfrm>
            <a:off x="1188720" y="384048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A10B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pill-dot"/>
          <p:cNvSpPr/>
          <p:nvPr/>
        </p:nvSpPr>
        <p:spPr>
          <a:xfrm>
            <a:off x="1280160" y="3913632"/>
            <a:ext cx="356616" cy="356616"/>
          </a:xfrm>
          <a:prstGeom prst="ellipse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391363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8404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loại index đặc biệt</a:t>
            </a:r>
            <a:endParaRPr lang="en-US" sz="1500" dirty="0"/>
          </a:p>
        </p:txBody>
      </p:sp>
      <p:sp>
        <p:nvSpPr>
          <p:cNvPr id="19" name="pill"/>
          <p:cNvSpPr/>
          <p:nvPr/>
        </p:nvSpPr>
        <p:spPr>
          <a:xfrm>
            <a:off x="1188720" y="461772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A10B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pill-dot"/>
          <p:cNvSpPr/>
          <p:nvPr/>
        </p:nvSpPr>
        <p:spPr>
          <a:xfrm>
            <a:off x="1280160" y="4690872"/>
            <a:ext cx="356616" cy="356616"/>
          </a:xfrm>
          <a:prstGeom prst="ellipse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80160" y="469087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6177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demo &amp; benchmark</a:t>
            </a:r>
            <a:endParaRPr lang="en-US" sz="1500" dirty="0"/>
          </a:p>
        </p:txBody>
      </p:sp>
      <p:sp>
        <p:nvSpPr>
          <p:cNvPr id="23" name="pill"/>
          <p:cNvSpPr/>
          <p:nvPr/>
        </p:nvSpPr>
        <p:spPr>
          <a:xfrm>
            <a:off x="1188720" y="539496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A10B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pill-dot"/>
          <p:cNvSpPr/>
          <p:nvPr/>
        </p:nvSpPr>
        <p:spPr>
          <a:xfrm>
            <a:off x="1280160" y="5468112"/>
            <a:ext cx="356616" cy="356616"/>
          </a:xfrm>
          <a:prstGeom prst="ellipse">
            <a:avLst/>
          </a:prstGeom>
          <a:solidFill>
            <a:srgbClr val="2A10B4"/>
          </a:solidFill>
          <a:ln w="12700">
            <a:solidFill>
              <a:srgbClr val="2A10B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546811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737360" y="5394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Vì sao chọn PostgreSQL?</a:t>
            </a:r>
            <a:endParaRPr lang="en-US" sz="2800" dirty="0"/>
          </a:p>
        </p:txBody>
      </p:sp>
      <p:sp>
        <p:nvSpPr>
          <p:cNvPr id="3" name="stat-bg"/>
          <p:cNvSpPr/>
          <p:nvPr/>
        </p:nvSpPr>
        <p:spPr>
          <a:xfrm>
            <a:off x="731520" y="1463040"/>
            <a:ext cx="19202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4" name="stat-num"/>
          <p:cNvSpPr txBox="1"/>
          <p:nvPr/>
        </p:nvSpPr>
        <p:spPr>
          <a:xfrm>
            <a:off x="731520" y="1536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1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3200" dirty="0"/>
          </a:p>
        </p:txBody>
      </p:sp>
      <p:sp>
        <p:nvSpPr>
          <p:cNvPr id="5" name="stat-label"/>
          <p:cNvSpPr txBox="1"/>
          <p:nvPr/>
        </p:nvSpPr>
        <p:spPr>
          <a:xfrm>
            <a:off x="82296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DB-Engines (sau Oracle,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SQL Server)</a:t>
            </a:r>
            <a:endParaRPr lang="en-US" sz="1200" dirty="0"/>
          </a:p>
        </p:txBody>
      </p:sp>
      <p:sp>
        <p:nvSpPr>
          <p:cNvPr id="6" name="stat-bg"/>
          <p:cNvSpPr/>
          <p:nvPr/>
        </p:nvSpPr>
        <p:spPr>
          <a:xfrm>
            <a:off x="2807208" y="1463040"/>
            <a:ext cx="19202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7" name="stat-num"/>
          <p:cNvSpPr txBox="1"/>
          <p:nvPr/>
        </p:nvSpPr>
        <p:spPr>
          <a:xfrm>
            <a:off x="2807208" y="1536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+21,97</a:t>
            </a:r>
            <a:endParaRPr lang="en-US" sz="3200" dirty="0"/>
          </a:p>
        </p:txBody>
      </p:sp>
      <p:sp>
        <p:nvSpPr>
          <p:cNvPr id="8" name="stat-label"/>
          <p:cNvSpPr txBox="1"/>
          <p:nvPr/>
        </p:nvSpPr>
        <p:spPr>
          <a:xfrm>
            <a:off x="2898648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nửa đầu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mạnh nhất top 5</a:t>
            </a:r>
            <a:endParaRPr lang="en-US" sz="1200" dirty="0"/>
          </a:p>
        </p:txBody>
      </p:sp>
      <p:sp>
        <p:nvSpPr>
          <p:cNvPr id="9" name="stat-bg"/>
          <p:cNvSpPr/>
          <p:nvPr/>
        </p:nvSpPr>
        <p:spPr>
          <a:xfrm>
            <a:off x="4882896" y="1463040"/>
            <a:ext cx="19202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0" name="stat-num"/>
          <p:cNvSpPr txBox="1"/>
          <p:nvPr/>
        </p:nvSpPr>
        <p:spPr>
          <a:xfrm>
            <a:off x="4882896" y="1536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lần</a:t>
            </a:r>
            <a:endParaRPr lang="en-US" sz="3200" dirty="0"/>
          </a:p>
        </p:txBody>
      </p:sp>
      <p:sp>
        <p:nvSpPr>
          <p:cNvPr id="11" name="stat-label"/>
          <p:cNvSpPr txBox="1"/>
          <p:nvPr/>
        </p:nvSpPr>
        <p:spPr>
          <a:xfrm>
            <a:off x="4974336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of the 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· 2018 · 2020 · 2023</a:t>
            </a:r>
            <a:endParaRPr lang="en-US" sz="1200" dirty="0"/>
          </a:p>
        </p:txBody>
      </p:sp>
      <p:sp>
        <p:nvSpPr>
          <p:cNvPr id="12" name="stat-bg"/>
          <p:cNvSpPr/>
          <p:nvPr/>
        </p:nvSpPr>
        <p:spPr>
          <a:xfrm>
            <a:off x="6958584" y="1463040"/>
            <a:ext cx="1911096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3" name="stat-num"/>
          <p:cNvSpPr txBox="1"/>
          <p:nvPr/>
        </p:nvSpPr>
        <p:spPr>
          <a:xfrm>
            <a:off x="6958584" y="1536192"/>
            <a:ext cx="1911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stat-label"/>
          <p:cNvSpPr txBox="1"/>
          <p:nvPr/>
        </p:nvSpPr>
        <p:spPr>
          <a:xfrm>
            <a:off x="7050024" y="22402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nguồn mở, không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Enterprise thu phí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1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CSDL quan hệ + đa mô hình trong một hệ thống</a:t>
            </a:r>
            <a:endParaRPr lang="en-US" sz="2000" dirty="0"/>
          </a:p>
        </p:txBody>
      </p:sp>
      <p:sp>
        <p:nvSpPr>
          <p:cNvPr id="16" name="bullets"/>
          <p:cNvSpPr txBox="1"/>
          <p:nvPr/>
        </p:nvSpPr>
        <p:spPr>
          <a:xfrm>
            <a:off x="731520" y="3611880"/>
            <a:ext cx="8138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JSONB, mảng, full-text search, pgvector… ngay trong SQL chuẩn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loại index: B-tree, Hash, GIN, GiST, SP-GiST, BRIN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khai báo, materialized view, trigger, PL/pgSQL, LISTEN/NOTIFY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nhóm cùng chọn PostgreSQL → nhóm 6 làm theo cách: mỗi tính năng gắn 1 nghiệp vụ thật và có số đo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đặc thù nghiệp vụ – 6 tính năng PostgreSQL</a:t>
            </a:r>
            <a:endParaRPr lang="en-US" sz="28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383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Đặc thù bán trang sức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Tính năng PostgreSQL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Mỗi loại trang sức có thuộc tính khác nhau (ni, carat, dài dây…)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0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JSONB + GIN index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Khách gõ không dấu, sai chính tả vẫn phải tìm 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0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Full-text search + unaccent + pg_trgm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Gợi ý “sản phẩm giống” khi xem chi tiết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0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pgvector + HNSW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Đơn hàng tăng mãi theo thời gian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0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Partitioning theo tháng + BRIN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Tồn kho ít, 2 khách mua cùng lúc chiếc cuối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0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+ SELECT … FOR UPDATE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Dashboard nhanh, báo hết hàng tức thì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0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Materialized view + LISTEN/NOTIFY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Kiến trúc hệ thống</a:t>
            </a:r>
            <a:endParaRPr lang="en-US" sz="2800" dirty="0"/>
          </a:p>
        </p:txBody>
      </p:sp>
      <p:pic>
        <p:nvPicPr>
          <p:cNvPr id="3" name="architecture.jpg" descr="/home/claude/jewelry-shop-postgres/docs/img/archite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8138160" cy="192024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731520" y="352044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pgvector · Node.js + Fastify, SQL thuần (không ORM) · Next.js 15 (khách + admin)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quan trọng nằm trong CSDL: hàm place_order(), cancel_order(), trigger NOTIFY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file migration SQL; trình chạy migration tự viết 60 dòng, mỗi file = 1 transaction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→ db + api + web + Grafana; dữ liệu mẫu 3.033 sản phẩm, 30.000 đơn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Thiết kế CSDL: 8 bảng</a:t>
            </a:r>
            <a:endParaRPr lang="en-US" sz="2800" dirty="0"/>
          </a:p>
        </p:txBody>
      </p:sp>
      <p:pic>
        <p:nvPicPr>
          <p:cNvPr id="3" name="erd.jpg" descr="/home/claude/jewelry-shop-postgres/docs/img/e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813816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6035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tô màu = nơi áp dụng tính năng đặc biệt của PostgreSQL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JSONB – thuộc tính sản phẩm linh hoạt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731520" y="1417320"/>
            <a:ext cx="5120640" cy="3657600"/>
          </a:xfrm>
          <a:prstGeom prst="rect">
            <a:avLst/>
          </a:prstGeom>
          <a:solidFill>
            <a:srgbClr val="F4F4F4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841248" y="1490472"/>
            <a:ext cx="49011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attributes JSONB NOT NULL DEFAULT '{}'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idx_products_attributes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products USING GIN (attributes jsonb_path_ops);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Nhẫn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{"metal":"Vàng trắng 18K","ring_size":12,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"stone":"Kim cương","carat":0.5}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Dây chuyền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{"metal":"Vàng 24K","length_cm":50}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Lọc: 1 câu SQL cho mọi tổ hợp thuộc tính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attributes @&gt;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'{"metal":"Vàng 18K","stone":"Kim cương"}'</a:t>
            </a:r>
            <a:endParaRPr lang="en-US" sz="1300" dirty="0"/>
          </a:p>
        </p:txBody>
      </p:sp>
      <p:sp>
        <p:nvSpPr>
          <p:cNvPr id="5" name="stat-bg"/>
          <p:cNvSpPr/>
          <p:nvPr/>
        </p:nvSpPr>
        <p:spPr>
          <a:xfrm>
            <a:off x="6035040" y="1417320"/>
            <a:ext cx="28346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6" name="stat-num"/>
          <p:cNvSpPr txBox="1"/>
          <p:nvPr/>
        </p:nvSpPr>
        <p:spPr>
          <a:xfrm>
            <a:off x="603504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1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</a:t>
            </a:r>
            <a:endParaRPr lang="en-US" sz="3200" dirty="0"/>
          </a:p>
        </p:txBody>
      </p:sp>
      <p:sp>
        <p:nvSpPr>
          <p:cNvPr id="7" name="stat-label"/>
          <p:cNvSpPr txBox="1"/>
          <p:nvPr/>
        </p:nvSpPr>
        <p:spPr>
          <a:xfrm>
            <a:off x="61264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nhanh hơn quét tuần tự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0,056 ms so với 1,57 ms</a:t>
            </a:r>
            <a:endParaRPr lang="en-US" sz="1200" dirty="0"/>
          </a:p>
        </p:txBody>
      </p:sp>
      <p:sp>
        <p:nvSpPr>
          <p:cNvPr id="8" name="bullets"/>
          <p:cNvSpPr txBox="1"/>
          <p:nvPr/>
        </p:nvSpPr>
        <p:spPr>
          <a:xfrm>
            <a:off x="6035040" y="29260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ALTER TABLE khi thêm loại trang sức mới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thêm/xoá thuộc tính ngay trên giao diện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lọc bên trái cũng sinh từ JSONB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212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Planner: Bitmap Index Scan on idx_products_attributes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Full-text search tiếng Việt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731520" y="1417320"/>
            <a:ext cx="5120640" cy="3291840"/>
          </a:xfrm>
          <a:prstGeom prst="rect">
            <a:avLst/>
          </a:prstGeom>
          <a:solidFill>
            <a:srgbClr val="F4F4F4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841248" y="1490472"/>
            <a:ext cx="490118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Hàm bỏ dấu, IMMUTABLE để dùng trong 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vi_unaccent(text) ... IMMUTABLE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$$ SELECT lower(unaccent($1)) $$;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tsvector sinh tự động (generated column)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search_vec TSVECTOR GENERATED ALWAYS AS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to_tsvector('simple', vi_unaccent(name)) ...) STORED;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... USING GIN (search_vec);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... USING GIN (vi_unaccent(name) gin_trgm_ops);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Tầng 1: search_vec @@ plainto_tsquery(vi_unaccent($1))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Tầng 2: vi_unaccent(name) % 'nhan kim cuog solitare'</a:t>
            </a:r>
            <a:endParaRPr lang="en-US" sz="1200" dirty="0"/>
          </a:p>
        </p:txBody>
      </p:sp>
      <p:pic>
        <p:nvPicPr>
          <p:cNvPr id="5" name="05-tim-kiem-trigram.jpg" descr="/home/claude/jewelry-shop-postgres/docs/img/05-tim-kiem-trigra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417320"/>
            <a:ext cx="2834640" cy="1783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“nhan kim cuog solitare” → Nhẫn kim cương vàng 18K Solitaire (trigram 0,44)</a:t>
            </a:r>
            <a:endParaRPr lang="en-US" sz="1200" dirty="0"/>
          </a:p>
        </p:txBody>
      </p:sp>
      <p:sp>
        <p:nvSpPr>
          <p:cNvPr id="7" name="stat-bg"/>
          <p:cNvSpPr/>
          <p:nvPr/>
        </p:nvSpPr>
        <p:spPr>
          <a:xfrm>
            <a:off x="6035040" y="4160520"/>
            <a:ext cx="28346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8" name="stat-num"/>
          <p:cNvSpPr txBox="1"/>
          <p:nvPr/>
        </p:nvSpPr>
        <p:spPr>
          <a:xfrm>
            <a:off x="6035040" y="4233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1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</a:t>
            </a:r>
            <a:endParaRPr lang="en-US" sz="3200" dirty="0"/>
          </a:p>
        </p:txBody>
      </p:sp>
      <p:sp>
        <p:nvSpPr>
          <p:cNvPr id="9" name="stat-label"/>
          <p:cNvSpPr txBox="1"/>
          <p:nvPr/>
        </p:nvSpPr>
        <p:spPr>
          <a:xfrm>
            <a:off x="612648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FTS có GIN so với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tuần tự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731520" y="4846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dấu / có dấu đều khớp, xếp hạng ts_rank, tô đậm ts_headline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Gõ sai chính tả → tự chuyển sang trigram (pg_trgm)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khi gõ bằng prefix search  nha:* &amp; kim:*  — không cần Elasticsearch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pgvector – gợi ý sản phẩm tương tự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731520" y="1417320"/>
            <a:ext cx="5120640" cy="2743200"/>
          </a:xfrm>
          <a:prstGeom prst="rect">
            <a:avLst/>
          </a:prstGeom>
          <a:solidFill>
            <a:srgbClr val="F4F4F4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841248" y="1490472"/>
            <a:ext cx="49011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vector(256)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idx_products_embedding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products USING hnsw (embedding vector_cosine_ops);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-- 8 sản phẩm gần nhất, &lt;=&gt; = khoảng cách cosine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1 - (p.embedding &lt;=&gt; me.embedding) AS sim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(SELECT embedding FROM products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slug = $1) 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p.embedding &lt;=&gt; me.embedding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8;</a:t>
            </a:r>
            <a:endParaRPr lang="en-US" sz="1200" dirty="0"/>
          </a:p>
        </p:txBody>
      </p:sp>
      <p:pic>
        <p:nvPicPr>
          <p:cNvPr id="5" name="03-chi-tiet-pgvector.jpg" descr="/home/claude/jewelry-shop-postgres/docs/img/03-chi-tiet-pgvect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417320"/>
            <a:ext cx="2834640" cy="3657600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demo bằng feature hashing: tên + danh mục + thuộc tính JSONB → 256 chiều, không cần API ngoài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bằng OpenAI / CLIP sau này chỉ đổi 1 hàm; schema và SQL giữ nguyên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HNSW: 0,25 ms so với 1,43 ms khi tính khoảng cách cho toàn bộ 3.033 vector (5,6×)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Partitioning theo tháng + BRIN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731520" y="1417320"/>
            <a:ext cx="5120640" cy="2377440"/>
          </a:xfrm>
          <a:prstGeom prst="rect">
            <a:avLst/>
          </a:prstGeom>
          <a:solidFill>
            <a:srgbClr val="F4F4F4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841248" y="1490472"/>
            <a:ext cx="490118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BIGSERIAL, created_at TIMESTAMPTZ NOT NULL,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(id, created_at)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PARTITION BY RANGE (created_at);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orders_2026_10 PARTITION OF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VALUES FROM ('2026-10-01') TO ('2026-11-01');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... ON orders USING BRIN (created_at);</a:t>
            </a:r>
            <a:endParaRPr lang="en-US" sz="1200" dirty="0"/>
          </a:p>
        </p:txBody>
      </p:sp>
      <p:sp>
        <p:nvSpPr>
          <p:cNvPr id="5" name="stat-bg"/>
          <p:cNvSpPr/>
          <p:nvPr/>
        </p:nvSpPr>
        <p:spPr>
          <a:xfrm>
            <a:off x="6035040" y="1417320"/>
            <a:ext cx="28346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6" name="stat-num"/>
          <p:cNvSpPr txBox="1"/>
          <p:nvPr/>
        </p:nvSpPr>
        <p:spPr>
          <a:xfrm>
            <a:off x="603504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3200" dirty="0"/>
          </a:p>
        </p:txBody>
      </p:sp>
      <p:sp>
        <p:nvSpPr>
          <p:cNvPr id="7" name="stat-label"/>
          <p:cNvSpPr txBox="1"/>
          <p:nvPr/>
        </p:nvSpPr>
        <p:spPr>
          <a:xfrm>
            <a:off x="61264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được quét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nhờ partition pruning</a:t>
            </a:r>
            <a:endParaRPr lang="en-US" sz="1200" dirty="0"/>
          </a:p>
        </p:txBody>
      </p:sp>
      <p:sp>
        <p:nvSpPr>
          <p:cNvPr id="8" name="stat-bg"/>
          <p:cNvSpPr/>
          <p:nvPr/>
        </p:nvSpPr>
        <p:spPr>
          <a:xfrm>
            <a:off x="6035040" y="2880360"/>
            <a:ext cx="283464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9" name="stat-num"/>
          <p:cNvSpPr txBox="1"/>
          <p:nvPr/>
        </p:nvSpPr>
        <p:spPr>
          <a:xfrm>
            <a:off x="6035040" y="29535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 kB</a:t>
            </a:r>
            <a:endParaRPr lang="en-US" sz="3200" dirty="0"/>
          </a:p>
        </p:txBody>
      </p:sp>
      <p:sp>
        <p:nvSpPr>
          <p:cNvPr id="10" name="stat-label"/>
          <p:cNvSpPr txBox="1"/>
          <p:nvPr/>
        </p:nvSpPr>
        <p:spPr>
          <a:xfrm>
            <a:off x="612648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 so với 1.000 kB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cùng cột</a:t>
            </a:r>
            <a:endParaRPr lang="en-US" sz="1200" dirty="0"/>
          </a:p>
        </p:txBody>
      </p:sp>
      <p:pic>
        <p:nvPicPr>
          <p:cNvPr id="11" name="10-admin-benchmark-explain.jpg" descr="/home/claude/jewelry-shop-postgres/docs/img/10-admin-benchmark-expla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3931920"/>
            <a:ext cx="5120640" cy="1920240"/>
          </a:xfrm>
          <a:prstGeom prst="rect">
            <a:avLst/>
          </a:prstGeom>
        </p:spPr>
      </p:pic>
      <p:sp>
        <p:nvSpPr>
          <p:cNvPr id="12" name="bullets"/>
          <p:cNvSpPr txBox="1"/>
          <p:nvPr/>
        </p:nvSpPr>
        <p:spPr>
          <a:xfrm>
            <a:off x="6035040" y="43434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theo khoảng ngày: 0,29 ms so với 1,68 ms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đơn cũ = DETACH 1 partition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mới: ensure_orders_partition()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Transaction + FOR UPDATE – chống bán quá kho</a:t>
            </a:r>
            <a:endParaRPr lang="en-US" sz="2800" dirty="0"/>
          </a:p>
        </p:txBody>
      </p:sp>
      <p:pic>
        <p:nvPicPr>
          <p:cNvPr id="3" name="order_flow.jpg" descr="/home/claude/jewelry-shop-postgres/docs/img/order_f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2743200" cy="5029200"/>
          </a:xfrm>
          <a:prstGeom prst="rect">
            <a:avLst/>
          </a:prstGeom>
        </p:spPr>
      </p:pic>
      <p:sp>
        <p:nvSpPr>
          <p:cNvPr id="4" name="code-bg"/>
          <p:cNvSpPr/>
          <p:nvPr/>
        </p:nvSpPr>
        <p:spPr>
          <a:xfrm>
            <a:off x="3657600" y="1371600"/>
            <a:ext cx="5212080" cy="3246120"/>
          </a:xfrm>
          <a:prstGeom prst="rect">
            <a:avLst/>
          </a:prstGeom>
          <a:solidFill>
            <a:srgbClr val="F4F4F4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3767328" y="1444752"/>
            <a:ext cx="4992624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place_order(): 1 hàm PL/pgSQL = 1 transaction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p.id, p.name, p.stock, i.qty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jsonb_to_recordset(p_items)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products p ON p.id = i.product_id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p.id    -- khoá cùng thứ tự, tránh deadlock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UPDATE OF p  -- giao dịch 2 phải CHỜ giao dịch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r.stock &lt; r.qty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'OUT_OF_STOCK: % chỉ còn %', ...;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LOOP;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orders, order_items; UPDATE stock;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CHECK (stock &gt;= 0) là hàng rào cuối cùng</a:t>
            </a:r>
            <a:endParaRPr lang="en-US" sz="1200" dirty="0"/>
          </a:p>
        </p:txBody>
      </p:sp>
      <p:sp>
        <p:nvSpPr>
          <p:cNvPr id="6" name="stat-bg"/>
          <p:cNvSpPr/>
          <p:nvPr/>
        </p:nvSpPr>
        <p:spPr>
          <a:xfrm>
            <a:off x="3657600" y="4846320"/>
            <a:ext cx="251460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7" name="stat-num"/>
          <p:cNvSpPr txBox="1"/>
          <p:nvPr/>
        </p:nvSpPr>
        <p:spPr>
          <a:xfrm>
            <a:off x="3657600" y="4919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1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50</a:t>
            </a:r>
            <a:endParaRPr lang="en-US" sz="3200" dirty="0"/>
          </a:p>
        </p:txBody>
      </p:sp>
      <p:sp>
        <p:nvSpPr>
          <p:cNvPr id="8" name="stat-label"/>
          <p:cNvSpPr txBox="1"/>
          <p:nvPr/>
        </p:nvSpPr>
        <p:spPr>
          <a:xfrm>
            <a:off x="3749040" y="5623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mua được khi kho =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client bị OUT_OF_STOCK</a:t>
            </a:r>
            <a:endParaRPr lang="en-US" sz="1200" dirty="0"/>
          </a:p>
        </p:txBody>
      </p:sp>
      <p:sp>
        <p:nvSpPr>
          <p:cNvPr id="9" name="stat-bg"/>
          <p:cNvSpPr/>
          <p:nvPr/>
        </p:nvSpPr>
        <p:spPr>
          <a:xfrm>
            <a:off x="6355080" y="4846320"/>
            <a:ext cx="251460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0" name="stat-num"/>
          <p:cNvSpPr txBox="1"/>
          <p:nvPr/>
        </p:nvSpPr>
        <p:spPr>
          <a:xfrm>
            <a:off x="6355080" y="4919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</a:t>
            </a:r>
            <a:endParaRPr lang="en-US" sz="3200" dirty="0"/>
          </a:p>
        </p:txBody>
      </p:sp>
      <p:sp>
        <p:nvSpPr>
          <p:cNvPr id="11" name="stat-label"/>
          <p:cNvSpPr txBox="1"/>
          <p:nvPr/>
        </p:nvSpPr>
        <p:spPr>
          <a:xfrm>
            <a:off x="6446520" y="5623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/ giây với 30 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(pgbench, máy ảo 2 vCPU)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Materialized view + LISTEN/NOTIFY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731520" y="1417320"/>
            <a:ext cx="5120640" cy="2286000"/>
          </a:xfrm>
          <a:prstGeom prst="rect">
            <a:avLst/>
          </a:prstGeom>
          <a:solidFill>
            <a:srgbClr val="F4F4F4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841248" y="1490472"/>
            <a:ext cx="49011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MATERIALIZED VIEW mv_sales_daily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date_trunc('day', created_at)::date AS day,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orders, sum(total) AS revenue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ON mv_sales_daily (day);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MATERIALIZED VIEW CONCURRENTLY mv_sales_daily;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Trigger: stock &lt; 3 → pg_notify('low_stock', json)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Node.js: LISTEN low_stock → SSE → trình duyệt admin</a:t>
            </a:r>
            <a:endParaRPr lang="en-US" sz="1200" dirty="0"/>
          </a:p>
        </p:txBody>
      </p:sp>
      <p:pic>
        <p:nvPicPr>
          <p:cNvPr id="5" name="13-admin-notify-sse.jpg" descr="/home/claude/jewelry-shop-postgres/docs/img/13-admin-notify-s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417320"/>
            <a:ext cx="2834640" cy="1737360"/>
          </a:xfrm>
          <a:prstGeom prst="rect">
            <a:avLst/>
          </a:prstGeom>
        </p:spPr>
      </p:pic>
      <p:sp>
        <p:nvSpPr>
          <p:cNvPr id="6" name="stat-bg"/>
          <p:cNvSpPr/>
          <p:nvPr/>
        </p:nvSpPr>
        <p:spPr>
          <a:xfrm>
            <a:off x="731520" y="3886200"/>
            <a:ext cx="246888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7" name="stat-num"/>
          <p:cNvSpPr txBox="1"/>
          <p:nvPr/>
        </p:nvSpPr>
        <p:spPr>
          <a:xfrm>
            <a:off x="731520" y="3959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150×</a:t>
            </a:r>
            <a:endParaRPr lang="en-US" sz="3200" dirty="0"/>
          </a:p>
        </p:txBody>
      </p:sp>
      <p:sp>
        <p:nvSpPr>
          <p:cNvPr id="8" name="stat-label"/>
          <p:cNvSpPr txBox="1"/>
          <p:nvPr/>
        </p:nvSpPr>
        <p:spPr>
          <a:xfrm>
            <a:off x="82296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30 ngày: 0,012 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1,8 ms tính trực tiếp</a:t>
            </a:r>
            <a:endParaRPr lang="en-US" sz="1200" dirty="0"/>
          </a:p>
        </p:txBody>
      </p:sp>
      <p:sp>
        <p:nvSpPr>
          <p:cNvPr id="9" name="stat-bg"/>
          <p:cNvSpPr/>
          <p:nvPr/>
        </p:nvSpPr>
        <p:spPr>
          <a:xfrm>
            <a:off x="3383280" y="3886200"/>
            <a:ext cx="246888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0" name="stat-num"/>
          <p:cNvSpPr txBox="1"/>
          <p:nvPr/>
        </p:nvSpPr>
        <p:spPr>
          <a:xfrm>
            <a:off x="3383280" y="3959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0,1 s</a:t>
            </a:r>
            <a:endParaRPr lang="en-US" sz="3200" dirty="0"/>
          </a:p>
        </p:txBody>
      </p:sp>
      <p:sp>
        <p:nvSpPr>
          <p:cNvPr id="11" name="stat-label"/>
          <p:cNvSpPr txBox="1"/>
          <p:nvPr/>
        </p:nvSpPr>
        <p:spPr>
          <a:xfrm>
            <a:off x="347472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tới 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F5, không Redis</a:t>
            </a:r>
            <a:endParaRPr lang="en-US" sz="1200" dirty="0"/>
          </a:p>
        </p:txBody>
      </p:sp>
      <p:pic>
        <p:nvPicPr>
          <p:cNvPr id="12" name="07-admin-dashboard.jpg" descr="/home/claude/jewelry-shop-postgres/docs/img/07-admin-dashbo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3291840"/>
            <a:ext cx="2834640" cy="3108960"/>
          </a:xfrm>
          <a:prstGeom prst="rect">
            <a:avLst/>
          </a:prstGeom>
        </p:spPr>
      </p:pic>
      <p:sp>
        <p:nvSpPr>
          <p:cNvPr id="13" name="bullets"/>
          <p:cNvSpPr txBox="1"/>
          <p:nvPr/>
        </p:nvSpPr>
        <p:spPr>
          <a:xfrm>
            <a:off x="731520" y="5394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CONCURRENTLY: không chặn người đọc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“hôm nay” tính trực tiếp trên partition tháng này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 loại index đặc biệt khác</a:t>
            </a:r>
            <a:endParaRPr lang="en-US" sz="2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Trong hệ thống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Lợi ích đo được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index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products (stock, id) WHERE stock &lt;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kB thay vì 168 kB; 16×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Covering index (INCLUDE)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orders (customer_id, created_at) INCLUDE (status, total)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Only Scan, Heap Fetches = 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Expression index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customers (lower(email))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Tìm email không phân biệt hoa thường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 column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= subtotal + shipping_fee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search_vec = to_tsvector(...)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CSDL tự tính, app không ghi sai được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/ HNSW / BRIN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JSONB, tsvector, trigram, vector, thời gian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2,5× – 28× so với quét tuần tự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5760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index gắn với đúng 1 truy vấn của ứng dụng — theo dõi lượt dùng bằng pg_stat_user_indexes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Ứng dụng: trang bán hàng và trang quản trị</a:t>
            </a:r>
            <a:endParaRPr lang="en-US" sz="2800" dirty="0"/>
          </a:p>
        </p:txBody>
      </p:sp>
      <p:pic>
        <p:nvPicPr>
          <p:cNvPr id="3" name="01-trang-chu.jpg" descr="/home/claude/jewelry-shop-postgres/docs/img/01-trang-ch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2606040" cy="3291840"/>
          </a:xfrm>
          <a:prstGeom prst="rect">
            <a:avLst/>
          </a:prstGeom>
        </p:spPr>
      </p:pic>
      <p:pic>
        <p:nvPicPr>
          <p:cNvPr id="4" name="02-danh-sach-loc-jsonb.jpg" descr="/home/claude/jewelry-shop-postgres/docs/img/02-danh-sach-loc-json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93008" y="1417320"/>
            <a:ext cx="2606040" cy="3291840"/>
          </a:xfrm>
          <a:prstGeom prst="rect">
            <a:avLst/>
          </a:prstGeom>
        </p:spPr>
      </p:pic>
      <p:pic>
        <p:nvPicPr>
          <p:cNvPr id="5" name="09-admin-san-pham-jsonb.jpg" descr="/home/claude/jewelry-shop-postgres/docs/img/09-admin-san-pham-jsonb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54496" y="1417320"/>
            <a:ext cx="2615184" cy="3291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31520" y="4800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 ·  Lọc JSONB  ·  Admin: sửa thuộc tính &amp; nhập kho</a:t>
            </a:r>
            <a:endParaRPr lang="en-US" sz="1400" dirty="0"/>
          </a:p>
        </p:txBody>
      </p:sp>
      <p:sp>
        <p:nvSpPr>
          <p:cNvPr id="7" name="bullets"/>
          <p:cNvSpPr txBox="1"/>
          <p:nvPr/>
        </p:nvSpPr>
        <p:spPr>
          <a:xfrm>
            <a:off x="731520" y="53035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trực tiếp: tìm kiếm không dấu / sai chính tả, đặt hàng chiếc cuối từ 2 trình duyệt, cảnh báo real-time, trang Monitor &amp; Benchmark chạy EXPLAIN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Benchmark: có index nhanh hơn bao nhiêu?</a:t>
            </a:r>
            <a:endParaRPr lang="en-US" sz="2800" dirty="0"/>
          </a:p>
        </p:txBody>
      </p:sp>
      <p:graphicFrame>
        <p:nvGraphicFramePr>
          <p:cNvPr id="3" name="speedup-chart" descr=""/>
          <p:cNvGraphicFramePr/>
          <p:nvPr/>
        </p:nvGraphicFramePr>
        <p:xfrm>
          <a:off x="731520" y="1371600"/>
          <a:ext cx="5212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bg"/>
          <p:cNvSpPr/>
          <p:nvPr/>
        </p:nvSpPr>
        <p:spPr>
          <a:xfrm>
            <a:off x="6126480" y="1417320"/>
            <a:ext cx="274320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5" name="stat-num"/>
          <p:cNvSpPr txBox="1"/>
          <p:nvPr/>
        </p:nvSpPr>
        <p:spPr>
          <a:xfrm>
            <a:off x="6126480" y="14904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1.690</a:t>
            </a:r>
            <a:endParaRPr lang="en-US" sz="3200" dirty="0"/>
          </a:p>
        </p:txBody>
      </p:sp>
      <p:sp>
        <p:nvSpPr>
          <p:cNvPr id="6" name="stat-label"/>
          <p:cNvSpPr txBox="1"/>
          <p:nvPr/>
        </p:nvSpPr>
        <p:spPr>
          <a:xfrm>
            <a:off x="621792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vấn đọc / giây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(FTS + JSONB + vector)</a:t>
            </a:r>
            <a:endParaRPr lang="en-US" sz="1200" dirty="0"/>
          </a:p>
        </p:txBody>
      </p:sp>
      <p:sp>
        <p:nvSpPr>
          <p:cNvPr id="7" name="stat-bg"/>
          <p:cNvSpPr/>
          <p:nvPr/>
        </p:nvSpPr>
        <p:spPr>
          <a:xfrm>
            <a:off x="6126480" y="2880360"/>
            <a:ext cx="2743200" cy="1325880"/>
          </a:xfrm>
          <a:prstGeom prst="rect">
            <a:avLst/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8" name="stat-num"/>
          <p:cNvSpPr txBox="1"/>
          <p:nvPr/>
        </p:nvSpPr>
        <p:spPr>
          <a:xfrm>
            <a:off x="6126480" y="2953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</a:t>
            </a:r>
            <a:endParaRPr lang="en-US" sz="3200" dirty="0"/>
          </a:p>
        </p:txBody>
      </p:sp>
      <p:sp>
        <p:nvSpPr>
          <p:cNvPr id="9" name="stat-label"/>
          <p:cNvSpPr txBox="1"/>
          <p:nvPr/>
        </p:nvSpPr>
        <p:spPr>
          <a:xfrm>
            <a:off x="621792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 / giây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client đồng thời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6126480" y="4389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sát: pg_stat_statements, pg_stat_user_indexes, Grafana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liệu: 3.033 sản phẩm, 35.000 đơn, PostgreSQL 16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4572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Kết luận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731520" y="15087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= CSDL quan hệ + đa mô hình: một hệ thống thay cho search engine, cache, hàng đợi và vector DB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tính năng gắn 6 nghiệp vụ, đều có số đo: nhanh hơn 2,5× – 150×; 50 client đồng thời không bán quá kho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chế: embedding feature hashing, chưa có từ điển tiếng Việt, dữ liệu thử nghiệm vài chục nghìn dòng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triển: embedding CLIP theo ảnh, pg_cron tự tạo partition &amp; refresh, replication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10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Cảm ơn cô và các bạn đã lắng nghe!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TECH">
  <a:themeElements>
    <a:clrScheme name="HUTECH">
      <a:dk1>
        <a:srgbClr val="1A1A1A"/>
      </a:dk1>
      <a:lt1>
        <a:srgbClr val="FFFFFF"/>
      </a:lt1>
      <a:dk2>
        <a:srgbClr val="2A10B4"/>
      </a:dk2>
      <a:lt2>
        <a:srgbClr val="EEF0FA"/>
      </a:lt2>
      <a:accent1>
        <a:srgbClr val="2A10B4"/>
      </a:accent1>
      <a:accent2>
        <a:srgbClr val="FFC000"/>
      </a:accent2>
      <a:accent3>
        <a:srgbClr val="1E8E3E"/>
      </a:accent3>
      <a:accent4>
        <a:srgbClr val="C62828"/>
      </a:accent4>
      <a:accent5>
        <a:srgbClr val="0B7285"/>
      </a:accent5>
      <a:accent6>
        <a:srgbClr val="666666"/>
      </a:accent6>
      <a:hlink>
        <a:srgbClr val="2A10B4"/>
      </a:hlink>
      <a:folHlink>
        <a:srgbClr val="666666"/>
      </a:folHlink>
    </a:clrScheme>
    <a:fontScheme name="HUTECH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bán hàng trang sức với PostgreSQL</dc:title>
  <dc:subject>PptxGenJS Presentation</dc:subject>
  <dc:creator>Nhóm 6</dc:creator>
  <cp:lastModifiedBy>Nhóm 6</cp:lastModifiedBy>
  <cp:revision>1</cp:revision>
  <dcterms:created xsi:type="dcterms:W3CDTF">2026-10-25T08:40:05Z</dcterms:created>
  <dcterms:modified xsi:type="dcterms:W3CDTF">2026-10-25T08:40:05Z</dcterms:modified>
</cp:coreProperties>
</file>