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ở đầu" id="{b7337f67-23ca-9017-70af-4c5fc65a8c9f}">
          <p14:sldIdLst>
            <p14:sldId id="256"/>
            <p14:sldId id="257"/>
            <p14:sldId id="258"/>
          </p14:sldIdLst>
        </p14:section>
        <p14:section name="Thiết kế" id="{f0b2c550-e405-2e83-3e23-b644775a1fcd}">
          <p14:sldIdLst>
            <p14:sldId id="259"/>
            <p14:sldId id="260"/>
          </p14:sldIdLst>
        </p14:section>
        <p14:section name="6 tính năng" id="{62188c44-53ba-a2db-c64a-286d3dc54ec3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Ứng dụng &amp; kết quả" id="{8b17780a-a9bd-8f97-9936-d52669b959e6}">
          <p14:sldIdLst>
            <p14:sldId id="268"/>
            <p14:sldId id="269"/>
          </p14:sldIdLst>
        </p14:section>
        <p14:section name="Kết luận" id="{48f68dec-7e8f-b0b8-6b0e-7988239265a3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Nhanh hơn (lần)</c:v>
                </c:pt>
              </c:strCache>
            </c:strRef>
          </c:tx>
          <c:spPr>
            <a:solidFill>
              <a:srgbClr val="B8902E"/>
            </a:solidFill>
            <a:effectLst/>
          </c:spPr>
          <c:invertIfNegative val="0"/>
          <c:dLbls>
            <c:numFmt formatCode="0.#&quot;×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21C1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Materialized view</c:v>
                  </c:pt>
                  <c:pt idx="1">
                    <c:v>JSONB @&gt; (GIN)</c:v>
                  </c:pt>
                  <c:pt idx="2">
                    <c:v>Partial index</c:v>
                  </c:pt>
                  <c:pt idx="3">
                    <c:v>Full-text (GIN)</c:v>
                  </c:pt>
                  <c:pt idx="4">
                    <c:v>Partition pruning</c:v>
                  </c:pt>
                  <c:pt idx="5">
                    <c:v>pgvector HNSW</c:v>
                  </c:pt>
                  <c:pt idx="6">
                    <c:v>Trigram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150</c:v>
                </c:pt>
                <c:pt idx="1">
                  <c:v>28</c:v>
                </c:pt>
                <c:pt idx="2">
                  <c:v>16</c:v>
                </c:pt>
                <c:pt idx="3">
                  <c:v>7</c:v>
                </c:pt>
                <c:pt idx="4">
                  <c:v>5.9</c:v>
                </c:pt>
                <c:pt idx="5">
                  <c:v>5.6</c:v>
                </c:pt>
                <c:pt idx="6">
                  <c:v>2.5</c:v>
                </c:pt>
              </c:numCache>
            </c:numRef>
          </c:val>
        </c:ser>
        <c:dLbls>
          <c:numFmt formatCode="0.#&quot;×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221C1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221C1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12700" cap="flat">
              <a:solidFill>
                <a:srgbClr val="E9E1D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6F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Giới thiệu nhóm và đề tài. 1 phút.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DB-Engines 2026: PostgreSQL #4 nhưng là hệ duy nhất trong top 4 tăng điểm. Nhấn mạnh hướng tiếp cận của nhóm: mỗi tính năng gắn 1 nghiệp vụ và có số đo.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khung của toàn bộ bài: 6 dòng = 6 phần tiếp theo.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products: attributes JSONB, search_vec tsvector generated, embedding vector(256). orders: partition theo tháng, total generated. order_items FK 2 cột tới bảng partition.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Bitmap Index Scan on idx_products_attributes. jsonb_path_ops: index nhỏ hơn, chỉ hỗ trợ @&gt;.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Nhóm 6 · Tiểu luận CSDL · PostgreSQL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731520" y="11887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200" kern="0" dirty="0">
                <a:solidFill>
                  <a:schemeClr val="accent6"/>
                </a:solidFill>
              </a:rPr>
              <a:t>TIỂU LUẬN MÔN CƠ SỞ DỮ LIỆU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5"/>
                </a:solidFill>
              </a:rPr>
              <a:t>Xây dựng hệ thống bán hàng trang sức với PostgreSQL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Nhóm 6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Phùng Anh Tuấn – 2541864024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Võ Bùi Duy Thông – 2541864019</a:t>
            </a:r>
            <a:endParaRPr lang="en-US" sz="22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Trường Đại học Công nghệ TP.HCM · Viện Đào tạo Sau đại học · 10/2026</a:t>
            </a:r>
            <a:endParaRPr lang="en-US" sz="2200" dirty="0"/>
          </a:p>
        </p:txBody>
      </p:sp>
      <p:pic>
        <p:nvPicPr>
          <p:cNvPr id="5" name="erd.jpg" descr="/home/claude/jewelry-shop-postgres/docs/img/er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78240" y="4754880"/>
            <a:ext cx="301752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Vì sao chọn PostgreSQL?</a:t>
            </a:r>
            <a:endParaRPr lang="en-US" sz="3600" dirty="0"/>
          </a:p>
        </p:txBody>
      </p:sp>
      <p:sp>
        <p:nvSpPr>
          <p:cNvPr id="3" name="stat-bg"/>
          <p:cNvSpPr/>
          <p:nvPr/>
        </p:nvSpPr>
        <p:spPr>
          <a:xfrm>
            <a:off x="548640" y="1554480"/>
            <a:ext cx="2651760" cy="173736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t-num"/>
          <p:cNvSpPr txBox="1"/>
          <p:nvPr/>
        </p:nvSpPr>
        <p:spPr>
          <a:xfrm>
            <a:off x="548640" y="1691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#4</a:t>
            </a:r>
            <a:endParaRPr lang="en-US" sz="4400" dirty="0"/>
          </a:p>
        </p:txBody>
      </p:sp>
      <p:sp>
        <p:nvSpPr>
          <p:cNvPr id="5" name="stat-label"/>
          <p:cNvSpPr txBox="1"/>
          <p:nvPr/>
        </p:nvSpPr>
        <p:spPr>
          <a:xfrm>
            <a:off x="685800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bảng xếp hạng DB-Engines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(sau Oracle, MySQL, SQL Server)</a:t>
            </a:r>
            <a:endParaRPr lang="en-US" sz="1600" dirty="0"/>
          </a:p>
        </p:txBody>
      </p:sp>
      <p:sp>
        <p:nvSpPr>
          <p:cNvPr id="6" name="stat-bg"/>
          <p:cNvSpPr/>
          <p:nvPr/>
        </p:nvSpPr>
        <p:spPr>
          <a:xfrm>
            <a:off x="3429000" y="1554480"/>
            <a:ext cx="2651760" cy="173736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tat-num"/>
          <p:cNvSpPr txBox="1"/>
          <p:nvPr/>
        </p:nvSpPr>
        <p:spPr>
          <a:xfrm>
            <a:off x="3429000" y="1691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+21,97</a:t>
            </a:r>
            <a:endParaRPr lang="en-US" sz="4400" dirty="0"/>
          </a:p>
        </p:txBody>
      </p:sp>
      <p:sp>
        <p:nvSpPr>
          <p:cNvPr id="8" name="stat-label"/>
          <p:cNvSpPr txBox="1"/>
          <p:nvPr/>
        </p:nvSpPr>
        <p:spPr>
          <a:xfrm>
            <a:off x="3566160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điểm nửa đầu 2026 – tăng mạnh nhất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trong khi top 3 đều giảm</a:t>
            </a:r>
            <a:endParaRPr lang="en-US" sz="1600" dirty="0"/>
          </a:p>
        </p:txBody>
      </p:sp>
      <p:sp>
        <p:nvSpPr>
          <p:cNvPr id="9" name="stat-bg"/>
          <p:cNvSpPr/>
          <p:nvPr/>
        </p:nvSpPr>
        <p:spPr>
          <a:xfrm>
            <a:off x="6309360" y="1554480"/>
            <a:ext cx="2651760" cy="173736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at-num"/>
          <p:cNvSpPr txBox="1"/>
          <p:nvPr/>
        </p:nvSpPr>
        <p:spPr>
          <a:xfrm>
            <a:off x="6309360" y="1691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4 lần</a:t>
            </a:r>
            <a:endParaRPr lang="en-US" sz="4400" dirty="0"/>
          </a:p>
        </p:txBody>
      </p:sp>
      <p:sp>
        <p:nvSpPr>
          <p:cNvPr id="11" name="stat-label"/>
          <p:cNvSpPr txBox="1"/>
          <p:nvPr/>
        </p:nvSpPr>
        <p:spPr>
          <a:xfrm>
            <a:off x="6446520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DBMS of the Year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(2017, 2018, 2020, 2023)</a:t>
            </a:r>
            <a:endParaRPr lang="en-US" sz="1600" dirty="0"/>
          </a:p>
        </p:txBody>
      </p:sp>
      <p:sp>
        <p:nvSpPr>
          <p:cNvPr id="12" name="stat-bg"/>
          <p:cNvSpPr/>
          <p:nvPr/>
        </p:nvSpPr>
        <p:spPr>
          <a:xfrm>
            <a:off x="9189720" y="1554480"/>
            <a:ext cx="2468880" cy="173736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tat-num"/>
          <p:cNvSpPr txBox="1"/>
          <p:nvPr/>
        </p:nvSpPr>
        <p:spPr>
          <a:xfrm>
            <a:off x="9189720" y="16916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4"/>
                </a:solidFill>
              </a:rPr>
              <a:t>100%</a:t>
            </a:r>
            <a:endParaRPr lang="en-US" sz="4400" dirty="0"/>
          </a:p>
        </p:txBody>
      </p:sp>
      <p:sp>
        <p:nvSpPr>
          <p:cNvPr id="14" name="stat-label"/>
          <p:cNvSpPr txBox="1"/>
          <p:nvPr/>
        </p:nvSpPr>
        <p:spPr>
          <a:xfrm>
            <a:off x="9326880" y="26060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mã nguồn mở, giấy phép tự do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không có bản “Enterprise”</a:t>
            </a:r>
            <a:endParaRPr lang="en-US" sz="1600" dirty="0"/>
          </a:p>
        </p:txBody>
      </p:sp>
      <p:sp>
        <p:nvSpPr>
          <p:cNvPr id="15" name="sub"/>
          <p:cNvSpPr txBox="1"/>
          <p:nvPr/>
        </p:nvSpPr>
        <p:spPr>
          <a:xfrm>
            <a:off x="548640" y="3611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CSDL quan hệ + đa mô hình trong một hệ thống</a:t>
            </a:r>
            <a:endParaRPr lang="en-US" sz="2400" dirty="0"/>
          </a:p>
        </p:txBody>
      </p:sp>
      <p:sp>
        <p:nvSpPr>
          <p:cNvPr id="16" name="bullets"/>
          <p:cNvSpPr txBox="1"/>
          <p:nvPr/>
        </p:nvSpPr>
        <p:spPr>
          <a:xfrm>
            <a:off x="548640" y="4206240"/>
            <a:ext cx="11064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JSONB, mảng, full-text search, pgvector… ngay trong SQL chuẩn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6 loại index: B-tree, Hash, GIN, GiST, SP-GiST, BRIN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Partition khai báo, materialized view, trigger, PL/pgSQL, LISTEN/NOTIFY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Cách làm của nhóm: mỗi tính năng gắn 1 nghiệp vụ, có số đo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6 đặc thù nghiệp vụ → 6 tính năng PostgreSQL</a:t>
            </a:r>
            <a:endParaRPr lang="en-US" sz="3600" dirty="0"/>
          </a:p>
        </p:txBody>
      </p:sp>
      <p:graphicFrame>
        <p:nvGraphicFramePr>
          <p:cNvPr id="4" name="map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6492240"/>
                <a:gridCol w="457200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Đặc thù nghiệp vụ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Tính năng PostgreSQL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1. Mỗi loại trang sức có thuộc tính khác nhau (ni, carat, dài dây…)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JSONB + GIN index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2. Khách gõ không dấu, sai chính tả vẫn phải tìm ra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Full-text search + unaccent + pg_trgm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3. Gợi ý “sản phẩm giống” khi xem chi tiết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pgvector + HNSW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4. Đơn hàng tăng mãi theo thời gian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Partitioning theo tháng + BRIN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5. Tồn kho ít, 2 khách mua cùng lúc chiếc cuối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Transaction + SELECT … FOR UPDATE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6. Dashboard nhanh, báo hết hàng tức thì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Materialized view + LISTEN/NOTIFY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Kiến trúc hệ thống</a:t>
            </a:r>
            <a:endParaRPr lang="en-US" sz="3600" dirty="0"/>
          </a:p>
        </p:txBody>
      </p:sp>
      <p:pic>
        <p:nvPicPr>
          <p:cNvPr id="3" name="architecture.jpg" descr="/home/claude/jewelry-shop-postgres/docs/img/architectu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11064240" cy="2651760"/>
          </a:xfrm>
          <a:prstGeom prst="rect">
            <a:avLst/>
          </a:prstGeom>
        </p:spPr>
      </p:pic>
      <p:sp>
        <p:nvSpPr>
          <p:cNvPr id="4" name="chip-bg"/>
          <p:cNvSpPr/>
          <p:nvPr/>
        </p:nvSpPr>
        <p:spPr>
          <a:xfrm>
            <a:off x="548640" y="4297680"/>
            <a:ext cx="329184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hip"/>
          <p:cNvSpPr txBox="1"/>
          <p:nvPr/>
        </p:nvSpPr>
        <p:spPr>
          <a:xfrm>
            <a:off x="548640" y="4297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PostgreSQL 16 + pgvector</a:t>
            </a:r>
            <a:endParaRPr lang="en-US" sz="1600" dirty="0"/>
          </a:p>
        </p:txBody>
      </p:sp>
      <p:sp>
        <p:nvSpPr>
          <p:cNvPr id="6" name="chip-bg"/>
          <p:cNvSpPr/>
          <p:nvPr/>
        </p:nvSpPr>
        <p:spPr>
          <a:xfrm>
            <a:off x="4023360" y="4297680"/>
            <a:ext cx="420624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chip"/>
          <p:cNvSpPr txBox="1"/>
          <p:nvPr/>
        </p:nvSpPr>
        <p:spPr>
          <a:xfrm>
            <a:off x="4023360" y="42976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Node.js + Fastify · SQL thuần, không ORM</a:t>
            </a:r>
            <a:endParaRPr lang="en-US" sz="1600" dirty="0"/>
          </a:p>
        </p:txBody>
      </p:sp>
      <p:sp>
        <p:nvSpPr>
          <p:cNvPr id="8" name="chip-bg"/>
          <p:cNvSpPr/>
          <p:nvPr/>
        </p:nvSpPr>
        <p:spPr>
          <a:xfrm>
            <a:off x="8412480" y="4297680"/>
            <a:ext cx="320040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chip"/>
          <p:cNvSpPr txBox="1"/>
          <p:nvPr/>
        </p:nvSpPr>
        <p:spPr>
          <a:xfrm>
            <a:off x="8412480" y="4297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Next.js 15 (khách + admin)</a:t>
            </a:r>
            <a:endParaRPr lang="en-US" sz="1600" dirty="0"/>
          </a:p>
        </p:txBody>
      </p:sp>
      <p:sp>
        <p:nvSpPr>
          <p:cNvPr id="10" name="bullets"/>
          <p:cNvSpPr txBox="1"/>
          <p:nvPr/>
        </p:nvSpPr>
        <p:spPr>
          <a:xfrm>
            <a:off x="548640" y="493776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Logic quan trọng nằm trong CSDL: hàm place_order(), cancel_order(), trigger NOTIFY</a:t>
            </a:r>
            <a:endParaRPr lang="en-US" sz="19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6 file migration SQL, trình chạy migration tự viết 60 dòng, mỗi file = 1 transaction</a:t>
            </a:r>
            <a:endParaRPr lang="en-US" sz="19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docker compose up → db + api + web + Grafana; dữ liệu mẫu 3.033 sản phẩm, 30.000 đơn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Thiết kế CSDL: 8 bảng</a:t>
            </a:r>
            <a:endParaRPr lang="en-US" sz="3600" dirty="0"/>
          </a:p>
        </p:txBody>
      </p:sp>
      <p:sp>
        <p:nvSpPr>
          <p:cNvPr id="3" name="cap"/>
          <p:cNvSpPr txBox="1"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Cột tô màu = nơi áp dụng tính năng đặc biệt của PostgreSQL</a:t>
            </a:r>
            <a:endParaRPr lang="en-US" sz="1600" dirty="0"/>
          </a:p>
        </p:txBody>
      </p:sp>
      <p:pic>
        <p:nvPicPr>
          <p:cNvPr id="4" name="erd.jpg" descr="/home/claude/jewelry-shop-postgres/docs/img/er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11064240" cy="457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-bg"/>
          <p:cNvSpPr/>
          <p:nvPr/>
        </p:nvSpPr>
        <p:spPr>
          <a:xfrm>
            <a:off x="548640" y="411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num"/>
          <p:cNvSpPr txBox="1"/>
          <p:nvPr/>
        </p:nvSpPr>
        <p:spPr>
          <a:xfrm>
            <a:off x="548640" y="411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</a:t>
            </a:r>
            <a:endParaRPr lang="en-US" sz="2800" dirty="0"/>
          </a:p>
        </p:txBody>
      </p:sp>
      <p:sp>
        <p:nvSpPr>
          <p:cNvPr id="4" name="ftitle"/>
          <p:cNvSpPr txBox="1"/>
          <p:nvPr/>
        </p:nvSpPr>
        <p:spPr>
          <a:xfrm>
            <a:off x="146304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JSONB – thuộc tính sản phẩm linh hoạt</a:t>
            </a:r>
            <a:endParaRPr lang="en-US" sz="3000" dirty="0"/>
          </a:p>
        </p:txBody>
      </p:sp>
      <p:sp>
        <p:nvSpPr>
          <p:cNvPr id="5" name="code-bg"/>
          <p:cNvSpPr/>
          <p:nvPr/>
        </p:nvSpPr>
        <p:spPr>
          <a:xfrm>
            <a:off x="548640" y="1417320"/>
            <a:ext cx="6766560" cy="4846320"/>
          </a:xfrm>
          <a:prstGeom prst="roundRect">
            <a:avLst>
              <a:gd name="adj" fmla="val 188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code"/>
          <p:cNvSpPr txBox="1"/>
          <p:nvPr/>
        </p:nvSpPr>
        <p:spPr>
          <a:xfrm>
            <a:off x="731520" y="1554480"/>
            <a:ext cx="6400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attributes JSONB NOT NULL DEFAULT '{}'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INDEX idx_products_attributes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 products USING GIN (attributes jsonb_path_ops);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Nhẫn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{"metal":"Vàng trắng 18K","ring_size":12,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"stone":"Kim cương","carat":0.5,"clarity":"VS1"}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Dây chuyền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{"metal":"Vàng 24K","length_cm":50,"style":"Xích"}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Lọc: chất liệu + đá, 1 câu SQL cho mọi tổ hợp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attributes @&gt; '{"metal":"Vàng 18K","stone":"Kim cương"}'</a:t>
            </a:r>
            <a:endParaRPr lang="en-US" sz="1600" dirty="0"/>
          </a:p>
        </p:txBody>
      </p:sp>
      <p:sp>
        <p:nvSpPr>
          <p:cNvPr id="7" name="stat-bg"/>
          <p:cNvSpPr/>
          <p:nvPr/>
        </p:nvSpPr>
        <p:spPr>
          <a:xfrm>
            <a:off x="7680960" y="1417320"/>
            <a:ext cx="3931920" cy="173736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tat-num"/>
          <p:cNvSpPr txBox="1"/>
          <p:nvPr/>
        </p:nvSpPr>
        <p:spPr>
          <a:xfrm>
            <a:off x="7680960" y="15544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28×</a:t>
            </a:r>
            <a:endParaRPr lang="en-US" sz="4400" dirty="0"/>
          </a:p>
        </p:txBody>
      </p:sp>
      <p:sp>
        <p:nvSpPr>
          <p:cNvPr id="9" name="stat-label"/>
          <p:cNvSpPr txBox="1"/>
          <p:nvPr/>
        </p:nvSpPr>
        <p:spPr>
          <a:xfrm>
            <a:off x="7818120" y="24688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nhanh hơn quét tuần tự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0,056 ms so với 1,57 ms</a:t>
            </a:r>
            <a:endParaRPr lang="en-US" sz="1600" dirty="0"/>
          </a:p>
        </p:txBody>
      </p:sp>
      <p:sp>
        <p:nvSpPr>
          <p:cNvPr id="10" name="bullets"/>
          <p:cNvSpPr txBox="1"/>
          <p:nvPr/>
        </p:nvSpPr>
        <p:spPr>
          <a:xfrm>
            <a:off x="7680960" y="3383280"/>
            <a:ext cx="3931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Không ALTER TABLE khi thêm loại trang sức mới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Admin thêm/xoá thuộc tính ngay trên giao diện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Bộ lọc bên trái cũng sinh từ JSONB</a:t>
            </a:r>
            <a:endParaRPr lang="en-US" sz="1800" dirty="0"/>
          </a:p>
        </p:txBody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-bg"/>
          <p:cNvSpPr/>
          <p:nvPr/>
        </p:nvSpPr>
        <p:spPr>
          <a:xfrm>
            <a:off x="548640" y="41148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num"/>
          <p:cNvSpPr txBox="1"/>
          <p:nvPr/>
        </p:nvSpPr>
        <p:spPr>
          <a:xfrm>
            <a:off x="548640" y="411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</a:t>
            </a:r>
            <a:endParaRPr lang="en-US" sz="2800" dirty="0"/>
          </a:p>
        </p:txBody>
      </p:sp>
      <p:sp>
        <p:nvSpPr>
          <p:cNvPr id="4" name="ftitle"/>
          <p:cNvSpPr txBox="1"/>
          <p:nvPr/>
        </p:nvSpPr>
        <p:spPr>
          <a:xfrm>
            <a:off x="146304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Full-text search tiếng Việt: không dấu, sai chính tả vẫn tìm ra</a:t>
            </a:r>
            <a:endParaRPr lang="en-US" sz="3000" dirty="0"/>
          </a:p>
        </p:txBody>
      </p:sp>
      <p:sp>
        <p:nvSpPr>
          <p:cNvPr id="5" name="code-bg"/>
          <p:cNvSpPr/>
          <p:nvPr/>
        </p:nvSpPr>
        <p:spPr>
          <a:xfrm>
            <a:off x="548640" y="1417320"/>
            <a:ext cx="6309360" cy="4206240"/>
          </a:xfrm>
          <a:prstGeom prst="roundRect">
            <a:avLst>
              <a:gd name="adj" fmla="val 217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code"/>
          <p:cNvSpPr txBox="1"/>
          <p:nvPr/>
        </p:nvSpPr>
        <p:spPr>
          <a:xfrm>
            <a:off x="731520" y="1554480"/>
            <a:ext cx="5943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Hàm bỏ dấu IMMUTABLE để dùng trong index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FUNCTION vi_unaccent(text) ... IMMUTABLE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 $$ SELECT lower(unaccent($1)) $$;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tsvector sinh tự động (generated column)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search_vec TSVECTOR GENERATED ALWAYS AS 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to_tsvector('simple', vi_unaccent(name)) ...) STORED;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INDEX ... USING GIN (search_vec);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INDEX ... USING GIN (vi_unaccent(name) gin_trgm_ops);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Tầng 1: search_vec @@ plainto_tsquery(vi_unaccent($1))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Tầng 2: vi_unaccent(name) % 'nhan kim cuog solitare'</a:t>
            </a:r>
            <a:endParaRPr lang="en-US" sz="1400" dirty="0"/>
          </a:p>
        </p:txBody>
      </p:sp>
      <p:pic>
        <p:nvPicPr>
          <p:cNvPr id="7" name="05-tim-kiem-trigram.jpg" descr="/home/claude/jewelry-shop-postgres/docs/img/05-tim-kiem-trigra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32320" y="1417320"/>
            <a:ext cx="4480560" cy="2743200"/>
          </a:xfrm>
          <a:prstGeom prst="rect">
            <a:avLst/>
          </a:prstGeom>
        </p:spPr>
      </p:pic>
      <p:sp>
        <p:nvSpPr>
          <p:cNvPr id="8" name="cap"/>
          <p:cNvSpPr txBox="1"/>
          <p:nvPr/>
        </p:nvSpPr>
        <p:spPr>
          <a:xfrm>
            <a:off x="7132320" y="42062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“nhan kim cuog solitare” → Nhẫn kim cương vàng 18K Solitaire (trigram, similarity 0,44)</a:t>
            </a:r>
            <a:endParaRPr lang="en-US" sz="1500" dirty="0"/>
          </a:p>
        </p:txBody>
      </p:sp>
      <p:sp>
        <p:nvSpPr>
          <p:cNvPr id="9" name="chip-bg"/>
          <p:cNvSpPr/>
          <p:nvPr/>
        </p:nvSpPr>
        <p:spPr>
          <a:xfrm>
            <a:off x="7132320" y="5029200"/>
            <a:ext cx="210312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chip"/>
          <p:cNvSpPr txBox="1"/>
          <p:nvPr/>
        </p:nvSpPr>
        <p:spPr>
          <a:xfrm>
            <a:off x="7132320" y="5029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FTS nhanh hơn 7×</a:t>
            </a:r>
            <a:endParaRPr lang="en-US" sz="1600" dirty="0"/>
          </a:p>
        </p:txBody>
      </p:sp>
      <p:sp>
        <p:nvSpPr>
          <p:cNvPr id="11" name="chip-bg"/>
          <p:cNvSpPr/>
          <p:nvPr/>
        </p:nvSpPr>
        <p:spPr>
          <a:xfrm>
            <a:off x="9418320" y="5029200"/>
            <a:ext cx="2194560" cy="4572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chip"/>
          <p:cNvSpPr txBox="1"/>
          <p:nvPr/>
        </p:nvSpPr>
        <p:spPr>
          <a:xfrm>
            <a:off x="9418320" y="5029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Gợi ý khi gõ: nha:* &amp; kim:*</a:t>
            </a:r>
            <a:endParaRPr lang="en-US" sz="1600" dirty="0"/>
          </a:p>
        </p:txBody>
      </p:sp>
      <p:sp>
        <p:nvSpPr>
          <p:cNvPr id="13" name="punch"/>
          <p:cNvSpPr txBox="1"/>
          <p:nvPr/>
        </p:nvSpPr>
        <p:spPr>
          <a:xfrm>
            <a:off x="548640" y="576072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Không cần Elasticsearch</a:t>
            </a:r>
            <a:endParaRPr lang="en-US" sz="2000" dirty="0"/>
          </a:p>
        </p:txBody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-bg"/>
          <p:cNvSpPr/>
          <p:nvPr/>
        </p:nvSpPr>
        <p:spPr>
          <a:xfrm>
            <a:off x="548640" y="41148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num"/>
          <p:cNvSpPr txBox="1"/>
          <p:nvPr/>
        </p:nvSpPr>
        <p:spPr>
          <a:xfrm>
            <a:off x="548640" y="411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</a:t>
            </a:r>
            <a:endParaRPr lang="en-US" sz="2800" dirty="0"/>
          </a:p>
        </p:txBody>
      </p:sp>
      <p:sp>
        <p:nvSpPr>
          <p:cNvPr id="4" name="ftitle"/>
          <p:cNvSpPr txBox="1"/>
          <p:nvPr/>
        </p:nvSpPr>
        <p:spPr>
          <a:xfrm>
            <a:off x="146304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pgvector – gợi ý sản phẩm tương tự (AI trong CSDL)</a:t>
            </a:r>
            <a:endParaRPr lang="en-US" sz="3000" dirty="0"/>
          </a:p>
        </p:txBody>
      </p:sp>
      <p:sp>
        <p:nvSpPr>
          <p:cNvPr id="5" name="code-bg"/>
          <p:cNvSpPr/>
          <p:nvPr/>
        </p:nvSpPr>
        <p:spPr>
          <a:xfrm>
            <a:off x="548640" y="1417320"/>
            <a:ext cx="6583680" cy="2834640"/>
          </a:xfrm>
          <a:prstGeom prst="roundRect">
            <a:avLst>
              <a:gd name="adj" fmla="val 322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code"/>
          <p:cNvSpPr txBox="1"/>
          <p:nvPr/>
        </p:nvSpPr>
        <p:spPr>
          <a:xfrm>
            <a:off x="731520" y="1554480"/>
            <a:ext cx="6217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embedding vector(256)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INDEX idx_products_embedding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 products USING hnsw (embedding vector_cosine_ops);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-- 8 sản phẩm gần nhất, &lt;=&gt; = khoảng cách cosine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name, 1 - (p.embedding &lt;=&gt; me.embedding) AS similarity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products p, (SELECT embedding FROM products WHERE slug=$1) 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p.embedding &lt;=&gt; me.embedding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 8;</a:t>
            </a:r>
            <a:endParaRPr lang="en-US" sz="1400" dirty="0"/>
          </a:p>
        </p:txBody>
      </p:sp>
      <p:sp>
        <p:nvSpPr>
          <p:cNvPr id="7" name="bullets"/>
          <p:cNvSpPr txBox="1"/>
          <p:nvPr/>
        </p:nvSpPr>
        <p:spPr>
          <a:xfrm>
            <a:off x="548640" y="4434840"/>
            <a:ext cx="65836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Embedding demo: feature hashing từ tên + danh mục + thuộc tính JSONB (256 chiều, không cần API ngoài)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Thay bằng OpenAI / CLIP sau này: chỉ đổi 1 hàm, schema và SQL giữ nguyên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HNSW: index Scan 0,25 ms so với 1,43 ms tính toàn bộ 3.033 vector</a:t>
            </a:r>
            <a:endParaRPr lang="en-US" sz="1700" dirty="0"/>
          </a:p>
        </p:txBody>
      </p:sp>
      <p:pic>
        <p:nvPicPr>
          <p:cNvPr id="8" name="03-chi-tiet-pgvector.jpg" descr="/home/claude/jewelry-shop-postgres/docs/img/03-chi-tiet-pgvect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06640" y="1417320"/>
            <a:ext cx="4206240" cy="4846320"/>
          </a:xfrm>
          <a:prstGeom prst="rect">
            <a:avLst/>
          </a:prstGeom>
        </p:spPr>
      </p:pic>
      <p:sp>
        <p:nvSpPr>
          <p:cNvPr id="9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-bg"/>
          <p:cNvSpPr/>
          <p:nvPr/>
        </p:nvSpPr>
        <p:spPr>
          <a:xfrm>
            <a:off x="548640" y="41148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" name="num"/>
          <p:cNvSpPr txBox="1"/>
          <p:nvPr/>
        </p:nvSpPr>
        <p:spPr>
          <a:xfrm>
            <a:off x="548640" y="411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4</a:t>
            </a:r>
            <a:endParaRPr lang="en-US" sz="2800" dirty="0"/>
          </a:p>
        </p:txBody>
      </p:sp>
      <p:sp>
        <p:nvSpPr>
          <p:cNvPr id="4" name="ftitle"/>
          <p:cNvSpPr txBox="1"/>
          <p:nvPr/>
        </p:nvSpPr>
        <p:spPr>
          <a:xfrm>
            <a:off x="146304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Partitioning theo tháng + BRIN cho bảng đơn hàng</a:t>
            </a:r>
            <a:endParaRPr lang="en-US" sz="3000" dirty="0"/>
          </a:p>
        </p:txBody>
      </p:sp>
      <p:sp>
        <p:nvSpPr>
          <p:cNvPr id="5" name="code-bg"/>
          <p:cNvSpPr/>
          <p:nvPr/>
        </p:nvSpPr>
        <p:spPr>
          <a:xfrm>
            <a:off x="548640" y="1417320"/>
            <a:ext cx="6583680" cy="2468880"/>
          </a:xfrm>
          <a:prstGeom prst="roundRect">
            <a:avLst>
              <a:gd name="adj" fmla="val 370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code"/>
          <p:cNvSpPr txBox="1"/>
          <p:nvPr/>
        </p:nvSpPr>
        <p:spPr>
          <a:xfrm>
            <a:off x="731520" y="1554480"/>
            <a:ext cx="6217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orders 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 BIGSERIAL, created_at TIMESTAMPTZ NOT NULL, ...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(id, created_at)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PARTITION BY RANGE (created_at);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orders_2026_10 PARTITION OF orders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VALUES FROM ('2026-10-01') TO ('2026-11-01');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INDEX ... ON orders USING BRIN (created_at);</a:t>
            </a:r>
            <a:endParaRPr lang="en-US" sz="1400" dirty="0"/>
          </a:p>
        </p:txBody>
      </p:sp>
      <p:pic>
        <p:nvPicPr>
          <p:cNvPr id="7" name="10-admin-benchmark-explain.jpg" descr="/home/claude/jewelry-shop-postgres/docs/img/10-admin-benchmark-explai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023360"/>
            <a:ext cx="6583680" cy="2286000"/>
          </a:xfrm>
          <a:prstGeom prst="rect">
            <a:avLst/>
          </a:prstGeom>
        </p:spPr>
      </p:pic>
      <p:sp>
        <p:nvSpPr>
          <p:cNvPr id="8" name="stat-bg"/>
          <p:cNvSpPr/>
          <p:nvPr/>
        </p:nvSpPr>
        <p:spPr>
          <a:xfrm>
            <a:off x="7406640" y="1417320"/>
            <a:ext cx="4206240" cy="173736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tat-num"/>
          <p:cNvSpPr txBox="1"/>
          <p:nvPr/>
        </p:nvSpPr>
        <p:spPr>
          <a:xfrm>
            <a:off x="7406640" y="15544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4"/>
                </a:solidFill>
              </a:rPr>
              <a:t>1 / 13</a:t>
            </a:r>
            <a:endParaRPr lang="en-US" sz="4400" dirty="0"/>
          </a:p>
        </p:txBody>
      </p:sp>
      <p:sp>
        <p:nvSpPr>
          <p:cNvPr id="10" name="stat-label"/>
          <p:cNvSpPr txBox="1"/>
          <p:nvPr/>
        </p:nvSpPr>
        <p:spPr>
          <a:xfrm>
            <a:off x="7543800" y="246888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partition được quét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nhờ partition pruning</a:t>
            </a:r>
            <a:endParaRPr lang="en-US" sz="1600" dirty="0"/>
          </a:p>
        </p:txBody>
      </p:sp>
      <p:sp>
        <p:nvSpPr>
          <p:cNvPr id="11" name="stat-bg"/>
          <p:cNvSpPr/>
          <p:nvPr/>
        </p:nvSpPr>
        <p:spPr>
          <a:xfrm>
            <a:off x="7406640" y="3291840"/>
            <a:ext cx="4206240" cy="173736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tat-num"/>
          <p:cNvSpPr txBox="1"/>
          <p:nvPr/>
        </p:nvSpPr>
        <p:spPr>
          <a:xfrm>
            <a:off x="7406640" y="34290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312 kB</a:t>
            </a:r>
            <a:endParaRPr lang="en-US" sz="4400" dirty="0"/>
          </a:p>
        </p:txBody>
      </p:sp>
      <p:sp>
        <p:nvSpPr>
          <p:cNvPr id="13" name="stat-label"/>
          <p:cNvSpPr txBox="1"/>
          <p:nvPr/>
        </p:nvSpPr>
        <p:spPr>
          <a:xfrm>
            <a:off x="7543800" y="434340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BRIN so với 1.000 kB B-tree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cùng cột created_at</a:t>
            </a:r>
            <a:endParaRPr lang="en-US" sz="1600" dirty="0"/>
          </a:p>
        </p:txBody>
      </p:sp>
      <p:sp>
        <p:nvSpPr>
          <p:cNvPr id="14" name="bullets"/>
          <p:cNvSpPr txBox="1"/>
          <p:nvPr/>
        </p:nvSpPr>
        <p:spPr>
          <a:xfrm>
            <a:off x="7406640" y="521208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Lưu trữ đơn cũ = DETACH 1 partition</a:t>
            </a:r>
            <a:endParaRPr lang="en-US" sz="17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Tạo tháng mới: ensure_orders_partition()</a:t>
            </a:r>
            <a:endParaRPr lang="en-US" sz="17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-bg"/>
          <p:cNvSpPr/>
          <p:nvPr/>
        </p:nvSpPr>
        <p:spPr>
          <a:xfrm>
            <a:off x="548640" y="411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num"/>
          <p:cNvSpPr txBox="1"/>
          <p:nvPr/>
        </p:nvSpPr>
        <p:spPr>
          <a:xfrm>
            <a:off x="548640" y="411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5</a:t>
            </a:r>
            <a:endParaRPr lang="en-US" sz="2800" dirty="0"/>
          </a:p>
        </p:txBody>
      </p:sp>
      <p:sp>
        <p:nvSpPr>
          <p:cNvPr id="4" name="ftitle"/>
          <p:cNvSpPr txBox="1"/>
          <p:nvPr/>
        </p:nvSpPr>
        <p:spPr>
          <a:xfrm>
            <a:off x="146304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Transaction + SELECT … FOR UPDATE – không bán quá tồn kho</a:t>
            </a:r>
            <a:endParaRPr lang="en-US" sz="3000" dirty="0"/>
          </a:p>
        </p:txBody>
      </p:sp>
      <p:pic>
        <p:nvPicPr>
          <p:cNvPr id="5" name="order_flow.jpg" descr="/home/claude/jewelry-shop-postgres/docs/img/order_flo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4206240" cy="4937760"/>
          </a:xfrm>
          <a:prstGeom prst="rect">
            <a:avLst/>
          </a:prstGeom>
        </p:spPr>
      </p:pic>
      <p:sp>
        <p:nvSpPr>
          <p:cNvPr id="6" name="code-bg"/>
          <p:cNvSpPr/>
          <p:nvPr/>
        </p:nvSpPr>
        <p:spPr>
          <a:xfrm>
            <a:off x="5029200" y="1371600"/>
            <a:ext cx="6583680" cy="3291840"/>
          </a:xfrm>
          <a:prstGeom prst="roundRect">
            <a:avLst>
              <a:gd name="adj" fmla="val 27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"/>
          <p:cNvSpPr txBox="1"/>
          <p:nvPr/>
        </p:nvSpPr>
        <p:spPr>
          <a:xfrm>
            <a:off x="5212080" y="1508760"/>
            <a:ext cx="6217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place_order(): 1 hàm PL/pgSQL = 1 transaction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r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p.id, p.name, p.stock, i.qty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jsonb_to_recordset(p_items) i JOIN products p ...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ORDER BY p.id     -- khoá cùng thứ tự → không deadlock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UPDATE OF p   -- giao dịch 2 phải CHỜ giao dịch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r.stock &lt; r.qty THEN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RAISE EXCEPTION 'OUT_OF_STOCK: "%" chỉ còn %', ...;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 IF;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LOOP;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INSERT orders, order_items; UPDATE stock; CHECK(stock&gt;=0)</a:t>
            </a:r>
            <a:endParaRPr lang="en-US" sz="1400" dirty="0"/>
          </a:p>
        </p:txBody>
      </p:sp>
      <p:sp>
        <p:nvSpPr>
          <p:cNvPr id="8" name="stat-bg"/>
          <p:cNvSpPr/>
          <p:nvPr/>
        </p:nvSpPr>
        <p:spPr>
          <a:xfrm>
            <a:off x="5029200" y="4754880"/>
            <a:ext cx="3200400" cy="173736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tat-num"/>
          <p:cNvSpPr txBox="1"/>
          <p:nvPr/>
        </p:nvSpPr>
        <p:spPr>
          <a:xfrm>
            <a:off x="5029200" y="48920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5 / 50</a:t>
            </a:r>
            <a:endParaRPr lang="en-US" sz="4400" dirty="0"/>
          </a:p>
        </p:txBody>
      </p:sp>
      <p:sp>
        <p:nvSpPr>
          <p:cNvPr id="10" name="stat-label"/>
          <p:cNvSpPr txBox="1"/>
          <p:nvPr/>
        </p:nvSpPr>
        <p:spPr>
          <a:xfrm>
            <a:off x="5166360" y="58064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client mua được khi kho = 5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45 client bị OUT_OF_STOCK</a:t>
            </a:r>
            <a:endParaRPr lang="en-US" sz="1600" dirty="0"/>
          </a:p>
        </p:txBody>
      </p:sp>
      <p:sp>
        <p:nvSpPr>
          <p:cNvPr id="11" name="stat-bg"/>
          <p:cNvSpPr/>
          <p:nvPr/>
        </p:nvSpPr>
        <p:spPr>
          <a:xfrm>
            <a:off x="8412480" y="4754880"/>
            <a:ext cx="3200400" cy="173736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tat-num"/>
          <p:cNvSpPr txBox="1"/>
          <p:nvPr/>
        </p:nvSpPr>
        <p:spPr>
          <a:xfrm>
            <a:off x="8412480" y="48920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625</a:t>
            </a:r>
            <a:endParaRPr lang="en-US" sz="4400" dirty="0"/>
          </a:p>
        </p:txBody>
      </p:sp>
      <p:sp>
        <p:nvSpPr>
          <p:cNvPr id="13" name="stat-label"/>
          <p:cNvSpPr txBox="1"/>
          <p:nvPr/>
        </p:nvSpPr>
        <p:spPr>
          <a:xfrm>
            <a:off x="8549640" y="58064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đơn / giây với 30 client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(pgbench, máy ảo 2 vCPU)</a:t>
            </a:r>
            <a:endParaRPr lang="en-US" sz="1600" dirty="0"/>
          </a:p>
        </p:txBody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-bg"/>
          <p:cNvSpPr/>
          <p:nvPr/>
        </p:nvSpPr>
        <p:spPr>
          <a:xfrm>
            <a:off x="548640" y="41148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num"/>
          <p:cNvSpPr txBox="1"/>
          <p:nvPr/>
        </p:nvSpPr>
        <p:spPr>
          <a:xfrm>
            <a:off x="548640" y="411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6</a:t>
            </a:r>
            <a:endParaRPr lang="en-US" sz="2800" dirty="0"/>
          </a:p>
        </p:txBody>
      </p:sp>
      <p:sp>
        <p:nvSpPr>
          <p:cNvPr id="4" name="ftitle"/>
          <p:cNvSpPr txBox="1"/>
          <p:nvPr/>
        </p:nvSpPr>
        <p:spPr>
          <a:xfrm>
            <a:off x="1463040" y="2743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Materialized view + LISTEN/NOTIFY cho dashboard</a:t>
            </a:r>
            <a:endParaRPr lang="en-US" sz="3000" dirty="0"/>
          </a:p>
        </p:txBody>
      </p:sp>
      <p:sp>
        <p:nvSpPr>
          <p:cNvPr id="5" name="code-bg"/>
          <p:cNvSpPr/>
          <p:nvPr/>
        </p:nvSpPr>
        <p:spPr>
          <a:xfrm>
            <a:off x="548640" y="1417320"/>
            <a:ext cx="6583680" cy="2651760"/>
          </a:xfrm>
          <a:prstGeom prst="roundRect">
            <a:avLst>
              <a:gd name="adj" fmla="val 344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code"/>
          <p:cNvSpPr txBox="1"/>
          <p:nvPr/>
        </p:nvSpPr>
        <p:spPr>
          <a:xfrm>
            <a:off x="731520" y="1554480"/>
            <a:ext cx="6217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MATERIALIZED VIEW mv_sales_daily 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date_trunc('day', created_at)::date AS day,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count(*) AS orders, sum(total) AS revenue ...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UNIQUE INDEX ON mv_sales_daily (day);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REFRESH MATERIALIZED VIEW CONCURRENTLY mv_sales_daily;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Trigger: tồn &lt; 3 → pg_notify('low_stock', json)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Node.js: LISTEN low_stock → Server-Sent Events → trình duyệt admin</a:t>
            </a:r>
            <a:endParaRPr lang="en-US" sz="1400" dirty="0"/>
          </a:p>
        </p:txBody>
      </p:sp>
      <p:sp>
        <p:nvSpPr>
          <p:cNvPr id="7" name="stat-bg"/>
          <p:cNvSpPr/>
          <p:nvPr/>
        </p:nvSpPr>
        <p:spPr>
          <a:xfrm>
            <a:off x="548640" y="4206240"/>
            <a:ext cx="3200400" cy="173736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tat-num"/>
          <p:cNvSpPr txBox="1"/>
          <p:nvPr/>
        </p:nvSpPr>
        <p:spPr>
          <a:xfrm>
            <a:off x="548640" y="43434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150×</a:t>
            </a:r>
            <a:endParaRPr lang="en-US" sz="4400" dirty="0"/>
          </a:p>
        </p:txBody>
      </p:sp>
      <p:sp>
        <p:nvSpPr>
          <p:cNvPr id="9" name="stat-label"/>
          <p:cNvSpPr txBox="1"/>
          <p:nvPr/>
        </p:nvSpPr>
        <p:spPr>
          <a:xfrm>
            <a:off x="685800" y="52578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doanh thu 30 ngày: 0,012 ms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so với 1,8 ms tính trực tiếp</a:t>
            </a:r>
            <a:endParaRPr lang="en-US" sz="1600" dirty="0"/>
          </a:p>
        </p:txBody>
      </p:sp>
      <p:sp>
        <p:nvSpPr>
          <p:cNvPr id="10" name="stat-bg"/>
          <p:cNvSpPr/>
          <p:nvPr/>
        </p:nvSpPr>
        <p:spPr>
          <a:xfrm>
            <a:off x="3931920" y="4206240"/>
            <a:ext cx="3200400" cy="173736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tat-num"/>
          <p:cNvSpPr txBox="1"/>
          <p:nvPr/>
        </p:nvSpPr>
        <p:spPr>
          <a:xfrm>
            <a:off x="3931920" y="43434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4"/>
                </a:solidFill>
              </a:rPr>
              <a:t>&lt; 0,1 s</a:t>
            </a:r>
            <a:endParaRPr lang="en-US" sz="4400" dirty="0"/>
          </a:p>
        </p:txBody>
      </p:sp>
      <p:sp>
        <p:nvSpPr>
          <p:cNvPr id="12" name="stat-label"/>
          <p:cNvSpPr txBox="1"/>
          <p:nvPr/>
        </p:nvSpPr>
        <p:spPr>
          <a:xfrm>
            <a:off x="4069080" y="52578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cảnh báo tới admin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không F5, không Redis</a:t>
            </a:r>
            <a:endParaRPr lang="en-US" sz="1600" dirty="0"/>
          </a:p>
        </p:txBody>
      </p:sp>
      <p:pic>
        <p:nvPicPr>
          <p:cNvPr id="13" name="13-admin-notify-sse.jpg" descr="/home/claude/jewelry-shop-postgres/docs/img/13-admin-notify-ss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06640" y="1417320"/>
            <a:ext cx="4206240" cy="2560320"/>
          </a:xfrm>
          <a:prstGeom prst="rect">
            <a:avLst/>
          </a:prstGeom>
        </p:spPr>
      </p:pic>
      <p:pic>
        <p:nvPicPr>
          <p:cNvPr id="14" name="07-admin-dashboard.jpg" descr="/home/claude/jewelry-shop-postgres/docs/img/07-admin-dashboard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06640" y="4114800"/>
            <a:ext cx="4206240" cy="2194560"/>
          </a:xfrm>
          <a:prstGeom prst="rect">
            <a:avLst/>
          </a:prstGeom>
        </p:spPr>
      </p:pic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Các index và cột đặc biệt khác</a:t>
            </a:r>
            <a:endParaRPr lang="en-US" sz="3600" dirty="0"/>
          </a:p>
        </p:txBody>
      </p:sp>
      <p:graphicFrame>
        <p:nvGraphicFramePr>
          <p:cNvPr id="13" name="index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754880"/>
                <a:gridCol w="356616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Loại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Trong hệ thống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Lợi ích đo được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Partial index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products (stock, id) WHERE stock &lt; 3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40 kB thay vì 168 kB; 0,018 ms (16×)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Covering index (INCLUDE)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orders (customer_id, created_at) INCLUDE (status, total)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Index Only Scan, Heap Fetches = 0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Expression index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customers (lower(email))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Tìm email không phân biệt hoa thường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Generated column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total = subtotal + shipping_fee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search_vec = to_tsvector(...)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CSDL tự tính, app không ghi sai được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GIN / HNSW / BRIN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JSONB, tsvector, trigram, vector, thời gian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2,5× – 28× so với quét tuần tự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punch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Mỗi index gắn với đúng 1 truy vấn của ứng dụng – theo dõi lượt dùng bằng pg_stat_user_indexes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Ứng dụng: trang bán hàng và trang quản trị</a:t>
            </a:r>
            <a:endParaRPr lang="en-US" sz="3600" dirty="0"/>
          </a:p>
        </p:txBody>
      </p:sp>
      <p:pic>
        <p:nvPicPr>
          <p:cNvPr id="3" name="01-trang-chu.jpg" descr="/home/claude/jewelry-shop-postgres/docs/img/01-trang-chu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3566160" cy="3931920"/>
          </a:xfrm>
          <a:prstGeom prst="rect">
            <a:avLst/>
          </a:prstGeom>
        </p:spPr>
      </p:pic>
      <p:pic>
        <p:nvPicPr>
          <p:cNvPr id="4" name="02-danh-sach-loc-jsonb.jpg" descr="/home/claude/jewelry-shop-postgres/docs/img/02-danh-sach-loc-jsonb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7680" y="1371600"/>
            <a:ext cx="3566160" cy="3931920"/>
          </a:xfrm>
          <a:prstGeom prst="rect">
            <a:avLst/>
          </a:prstGeom>
        </p:spPr>
      </p:pic>
      <p:pic>
        <p:nvPicPr>
          <p:cNvPr id="5" name="09-admin-san-pham-jsonb.jpg" descr="/home/claude/jewelry-shop-postgres/docs/img/09-admin-san-pham-jsonb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371600"/>
            <a:ext cx="3566160" cy="3931920"/>
          </a:xfrm>
          <a:prstGeom prst="rect">
            <a:avLst/>
          </a:prstGeom>
        </p:spPr>
      </p:pic>
      <p:sp>
        <p:nvSpPr>
          <p:cNvPr id="6" name="cap"/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Trang chủ · Lọc JSONB · Admin sửa thuộc tính &amp; nhập kho  —  demo trực tiếp: tìm kiếm, đặt hàng, cảnh báo real-time, benchmark EXPLAIN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Benchmark: có index nhanh hơn bao nhiêu lần?</a:t>
            </a:r>
            <a:endParaRPr lang="en-US" sz="3600" dirty="0"/>
          </a:p>
        </p:txBody>
      </p:sp>
      <p:graphicFrame>
        <p:nvGraphicFramePr>
          <p:cNvPr id="3" name="speedup-chart" descr=""/>
          <p:cNvGraphicFramePr/>
          <p:nvPr/>
        </p:nvGraphicFramePr>
        <p:xfrm>
          <a:off x="548640" y="137160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tat-bg"/>
          <p:cNvSpPr/>
          <p:nvPr/>
        </p:nvSpPr>
        <p:spPr>
          <a:xfrm>
            <a:off x="7863840" y="1371600"/>
            <a:ext cx="3749040" cy="173736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at-num"/>
          <p:cNvSpPr txBox="1"/>
          <p:nvPr/>
        </p:nvSpPr>
        <p:spPr>
          <a:xfrm>
            <a:off x="7863840" y="1508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1.690</a:t>
            </a:r>
            <a:endParaRPr lang="en-US" sz="4400" dirty="0"/>
          </a:p>
        </p:txBody>
      </p:sp>
      <p:sp>
        <p:nvSpPr>
          <p:cNvPr id="6" name="stat-label"/>
          <p:cNvSpPr txBox="1"/>
          <p:nvPr/>
        </p:nvSpPr>
        <p:spPr>
          <a:xfrm>
            <a:off x="8001000" y="242316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truy vấn đọc / giây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(FTS + JSONB + vector)</a:t>
            </a:r>
            <a:endParaRPr lang="en-US" sz="1600" dirty="0"/>
          </a:p>
        </p:txBody>
      </p:sp>
      <p:sp>
        <p:nvSpPr>
          <p:cNvPr id="7" name="stat-bg"/>
          <p:cNvSpPr/>
          <p:nvPr/>
        </p:nvSpPr>
        <p:spPr>
          <a:xfrm>
            <a:off x="7863840" y="3291840"/>
            <a:ext cx="3749040" cy="173736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tat-num"/>
          <p:cNvSpPr txBox="1"/>
          <p:nvPr/>
        </p:nvSpPr>
        <p:spPr>
          <a:xfrm>
            <a:off x="7863840" y="342900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625</a:t>
            </a:r>
            <a:endParaRPr lang="en-US" sz="4400" dirty="0"/>
          </a:p>
        </p:txBody>
      </p:sp>
      <p:sp>
        <p:nvSpPr>
          <p:cNvPr id="9" name="stat-label"/>
          <p:cNvSpPr txBox="1"/>
          <p:nvPr/>
        </p:nvSpPr>
        <p:spPr>
          <a:xfrm>
            <a:off x="8001000" y="43434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đơn hàng / giây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30 client đồng thời</a:t>
            </a:r>
            <a:endParaRPr lang="en-US" sz="1600" dirty="0"/>
          </a:p>
        </p:txBody>
      </p:sp>
      <p:sp>
        <p:nvSpPr>
          <p:cNvPr id="10" name="bullets"/>
          <p:cNvSpPr txBox="1"/>
          <p:nvPr/>
        </p:nvSpPr>
        <p:spPr>
          <a:xfrm>
            <a:off x="7863840" y="521208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Giám sát: pg_stat_statements, pg_stat_user_indexes, Grafana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Dữ liệu: 3.033 SP, 35.000 đơn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5"/>
                </a:solidFill>
              </a:rPr>
              <a:t>Kết luận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1"/>
                </a:solidFill>
              </a:rPr>
              <a:t>PostgreSQL = CSDL quan hệ + đa mô hình: một hệ thống thay cho search engine, cache, hàng đợi, vector DB</a:t>
            </a:r>
            <a:endParaRPr lang="en-US" sz="22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bg1"/>
                </a:solidFill>
              </a:rPr>
              <a:t>6 tính năng × 6 nghiệp vụ, đều có số đo: 2,5× – 150×, 50 client không bán quá kho</a:t>
            </a:r>
            <a:endParaRPr lang="en-US" sz="2200" dirty="0"/>
          </a:p>
          <a:p>
            <a:pPr algn="l" marL="342900" indent="-342900">
              <a:buSzPct val="100000"/>
              <a:buChar char="•"/>
            </a:pPr>
            <a:r>
              <a:rPr lang="en-US" sz="2200" dirty="0">
                <a:solidFill>
                  <a:schemeClr val="bg1"/>
                </a:solidFill>
              </a:rPr>
              <a:t>Hướng phát triển: embedding CLIP theo ảnh, từ điển tiếng Việt, pg_cron, replication</a:t>
            </a:r>
            <a:endParaRPr lang="en-US" sz="2200" dirty="0"/>
          </a:p>
        </p:txBody>
      </p:sp>
      <p:sp>
        <p:nvSpPr>
          <p:cNvPr id="4" name="thanks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Cảm ơn cô và các bạn đã lắng nghe!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ewelry PostgreSQL">
  <a:themeElements>
    <a:clrScheme name="Jewelry PostgreSQL">
      <a:dk1>
        <a:srgbClr val="221C14"/>
      </a:dk1>
      <a:lt1>
        <a:srgbClr val="FFFFFF"/>
      </a:lt1>
      <a:dk2>
        <a:srgbClr val="5B4A2A"/>
      </a:dk2>
      <a:lt2>
        <a:srgbClr val="F6EFDD"/>
      </a:lt2>
      <a:accent1>
        <a:srgbClr val="B8902E"/>
      </a:accent1>
      <a:accent2>
        <a:srgbClr val="2B5FA8"/>
      </a:accent2>
      <a:accent3>
        <a:srgbClr val="2E7D4F"/>
      </a:accent3>
      <a:accent4>
        <a:srgbClr val="B23B3B"/>
      </a:accent4>
      <a:accent5>
        <a:srgbClr val="E5C56B"/>
      </a:accent5>
      <a:accent6>
        <a:srgbClr val="7A6F60"/>
      </a:accent6>
      <a:hlink>
        <a:srgbClr val="2B5FA8"/>
      </a:hlink>
      <a:folHlink>
        <a:srgbClr val="7A6F60"/>
      </a:folHlink>
    </a:clrScheme>
    <a:fontScheme name="Jewelry PostgreSQ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bán hàng trang sức với PostgreSQL</dc:title>
  <dc:subject>PptxGenJS Presentation</dc:subject>
  <dc:creator>Nhóm 6</dc:creator>
  <cp:lastModifiedBy>Nhóm 6</cp:lastModifiedBy>
  <cp:revision>1</cp:revision>
  <dcterms:created xsi:type="dcterms:W3CDTF">2026-10-24T06:21:08Z</dcterms:created>
  <dcterms:modified xsi:type="dcterms:W3CDTF">2026-10-24T06:21:08Z</dcterms:modified>
</cp:coreProperties>
</file>