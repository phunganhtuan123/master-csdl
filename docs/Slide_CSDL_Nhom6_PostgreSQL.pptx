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b578b7eb-1fd2-1a2c-f1d0-61f17d20c5a0}">
          <p14:sldIdLst>
            <p14:sldId id="256"/>
            <p14:sldId id="257"/>
            <p14:sldId id="258"/>
            <p14:sldId id="259"/>
          </p14:sldIdLst>
        </p14:section>
        <p14:section name="Thiết kế" id="{2f2e1919-bdc9-9bd3-b7f9-a6cd4fc1c9c2}">
          <p14:sldIdLst>
            <p14:sldId id="260"/>
            <p14:sldId id="261"/>
          </p14:sldIdLst>
        </p14:section>
        <p14:section name="6 tính năng" id="{b477f6ed-f301-c0d1-f989-9a1682f71dc4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Ứng dụng &amp; kết quả" id="{8da953ea-cdc0-11b2-c860-a13241a4115e}">
          <p14:sldIdLst>
            <p14:sldId id="269"/>
            <p14:sldId id="270"/>
            <p14:sldId id="271"/>
          </p14:sldIdLst>
        </p14:section>
        <p14:section name="Kết luận" id="{64ddcb45-1e93-4b01-eef6-ff6fd9454c1f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Nhanh hơn (lần)</c:v>
                </c:pt>
              </c:strCache>
            </c:strRef>
          </c:tx>
          <c:spPr>
            <a:solidFill>
              <a:srgbClr val="2A10B4"/>
            </a:solidFill>
            <a:effectLst/>
          </c:spPr>
          <c:invertIfNegative val="0"/>
          <c:dLbls>
            <c:numFmt formatCode="0.#&quot;×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Materialized view</c:v>
                  </c:pt>
                  <c:pt idx="1">
                    <c:v>Partial index</c:v>
                  </c:pt>
                  <c:pt idx="2">
                    <c:v>Covering index</c:v>
                  </c:pt>
                  <c:pt idx="3">
                    <c:v>JSONB @&gt; (GIN)</c:v>
                  </c:pt>
                  <c:pt idx="4">
                    <c:v>Partition pruning</c:v>
                  </c:pt>
                  <c:pt idx="5">
                    <c:v>Full-text (GIN)</c:v>
                  </c:pt>
                  <c:pt idx="6">
                    <c:v>pgvector HNSW</c:v>
                  </c:pt>
                  <c:pt idx="7">
                    <c:v>Trigram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1077</c:v>
                </c:pt>
                <c:pt idx="1">
                  <c:v>484</c:v>
                </c:pt>
                <c:pt idx="2">
                  <c:v>251</c:v>
                </c:pt>
                <c:pt idx="3">
                  <c:v>34</c:v>
                </c:pt>
                <c:pt idx="4">
                  <c:v>20</c:v>
                </c:pt>
                <c:pt idx="5">
                  <c:v>9.6</c:v>
                </c:pt>
                <c:pt idx="6">
                  <c:v>7.4</c:v>
                </c:pt>
                <c:pt idx="7">
                  <c:v>2.6</c:v>
                </c:pt>
              </c:numCache>
            </c:numRef>
          </c:val>
        </c:ser>
        <c:dLbls>
          <c:numFmt formatCode="0.#&quot;×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1"/>
        <c:axPos val="b"/>
        <c:majorGridlines>
          <c:spPr>
            <a:ln w="1270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Giới thiệu nhóm và đề tài.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products: attributes JSONB, search_vec tsvector generated, embedding vector(256). orders: partition theo tháng, total generated.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UTEC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jewelry-shop-postgres/docs/img/tpl/hutech-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" y="27432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0352" y="45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HUTECH University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502920" y="457200"/>
            <a:ext cx="8641080" cy="749808"/>
          </a:xfrm>
          <a:prstGeom prst="rect">
            <a:avLst/>
          </a:prstGeom>
          <a:solidFill>
            <a:srgbClr val="2A10B4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1207008"/>
            <a:ext cx="502920" cy="5650992"/>
          </a:xfrm>
          <a:prstGeom prst="rect">
            <a:avLst/>
          </a:prstGeom>
          <a:solidFill>
            <a:srgbClr val="2A10B4"/>
          </a:solidFill>
          <a:ln/>
        </p:spPr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uilding" descr="/home/claude/jewelry-shop-postgres/docs/img/tpl/building.jp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rcRect l="0" r="0" t="0" b="0"/>
          <a:stretch/>
        </p:blipFill>
        <p:spPr>
          <a:xfrm>
            <a:off x="0" y="1645920"/>
            <a:ext cx="1691640" cy="5212080"/>
          </a:xfrm>
          <a:prstGeom prst="rect">
            <a:avLst/>
          </a:prstGeom>
        </p:spPr>
      </p:pic>
      <p:pic>
        <p:nvPicPr>
          <p:cNvPr id="3" name="logo" descr="/home/claude/jewelry-shop-postgres/docs/img/tpl/hutech-log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91440"/>
            <a:ext cx="1463040" cy="14630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874520" y="5486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HUTECH University</a:t>
            </a:r>
            <a:endParaRPr lang="en-US" sz="3000" dirty="0"/>
          </a:p>
        </p:txBody>
      </p:sp>
      <p:sp>
        <p:nvSpPr>
          <p:cNvPr id="5" name="cover-bg"/>
          <p:cNvSpPr/>
          <p:nvPr/>
        </p:nvSpPr>
        <p:spPr>
          <a:xfrm>
            <a:off x="1691640" y="1645920"/>
            <a:ext cx="7452360" cy="5212080"/>
          </a:xfrm>
          <a:prstGeom prst="rect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1920240" y="21031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spc="200" kern="0" dirty="0">
                <a:solidFill>
                  <a:srgbClr val="FFD5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TIỂU LUẬN MÔN CƠ SỞ DỮ LIỆU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1920240" y="2651760"/>
            <a:ext cx="7040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XÂY DỰNG HỆ THỐNG BÁN HÀNG TRANG SỨC VỚI POSTGRESQL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920240" y="448056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D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6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1920240" y="4937760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Phùng Anh Tuấn – 2541864024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Võ Bùi Duy Thông – 2541864019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920240" y="59893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GVHD: ……………………………   ·   Tháng 10/2026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Nội dung</a:t>
            </a:r>
            <a:endParaRPr lang="en-US" sz="2800" dirty="0"/>
          </a:p>
        </p:txBody>
      </p:sp>
      <p:sp>
        <p:nvSpPr>
          <p:cNvPr id="3" name="pill"/>
          <p:cNvSpPr/>
          <p:nvPr/>
        </p:nvSpPr>
        <p:spPr>
          <a:xfrm>
            <a:off x="1188720" y="1508760"/>
            <a:ext cx="69494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4" name="pill-dot"/>
          <p:cNvSpPr/>
          <p:nvPr/>
        </p:nvSpPr>
        <p:spPr>
          <a:xfrm>
            <a:off x="1280160" y="158191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58191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50876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chọn PostgreSQL</a:t>
            </a:r>
            <a:endParaRPr lang="en-US" sz="1500" dirty="0"/>
          </a:p>
        </p:txBody>
      </p:sp>
      <p:sp>
        <p:nvSpPr>
          <p:cNvPr id="7" name="pill"/>
          <p:cNvSpPr/>
          <p:nvPr/>
        </p:nvSpPr>
        <p:spPr>
          <a:xfrm>
            <a:off x="1188720" y="2286000"/>
            <a:ext cx="69494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8" name="pill-dot"/>
          <p:cNvSpPr/>
          <p:nvPr/>
        </p:nvSpPr>
        <p:spPr>
          <a:xfrm>
            <a:off x="1280160" y="235915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23591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228600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hệ thống &amp; thiết kế CSDL</a:t>
            </a:r>
            <a:endParaRPr lang="en-US" sz="1500" dirty="0"/>
          </a:p>
        </p:txBody>
      </p:sp>
      <p:sp>
        <p:nvSpPr>
          <p:cNvPr id="11" name="pill"/>
          <p:cNvSpPr/>
          <p:nvPr/>
        </p:nvSpPr>
        <p:spPr>
          <a:xfrm>
            <a:off x="1188720" y="3063240"/>
            <a:ext cx="69494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12" name="pill-dot"/>
          <p:cNvSpPr/>
          <p:nvPr/>
        </p:nvSpPr>
        <p:spPr>
          <a:xfrm>
            <a:off x="1280160" y="313639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80160" y="313639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3063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tính năng nổi bật gắn với nghiệp vụ</a:t>
            </a:r>
            <a:endParaRPr lang="en-US" sz="1500" dirty="0"/>
          </a:p>
        </p:txBody>
      </p:sp>
      <p:sp>
        <p:nvSpPr>
          <p:cNvPr id="15" name="pill"/>
          <p:cNvSpPr/>
          <p:nvPr/>
        </p:nvSpPr>
        <p:spPr>
          <a:xfrm>
            <a:off x="1188720" y="3840480"/>
            <a:ext cx="69494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16" name="pill-dot"/>
          <p:cNvSpPr/>
          <p:nvPr/>
        </p:nvSpPr>
        <p:spPr>
          <a:xfrm>
            <a:off x="1280160" y="391363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80160" y="391363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384048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loại index đặc biệt</a:t>
            </a:r>
            <a:endParaRPr lang="en-US" sz="1500" dirty="0"/>
          </a:p>
        </p:txBody>
      </p:sp>
      <p:sp>
        <p:nvSpPr>
          <p:cNvPr id="19" name="pill"/>
          <p:cNvSpPr/>
          <p:nvPr/>
        </p:nvSpPr>
        <p:spPr>
          <a:xfrm>
            <a:off x="1188720" y="4617720"/>
            <a:ext cx="69494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20" name="pill-dot"/>
          <p:cNvSpPr/>
          <p:nvPr/>
        </p:nvSpPr>
        <p:spPr>
          <a:xfrm>
            <a:off x="1280160" y="469087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80160" y="469087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737360" y="461772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Ứng dụng demo &amp; benchmark</a:t>
            </a:r>
            <a:endParaRPr lang="en-US" sz="1500" dirty="0"/>
          </a:p>
        </p:txBody>
      </p:sp>
      <p:sp>
        <p:nvSpPr>
          <p:cNvPr id="23" name="pill"/>
          <p:cNvSpPr/>
          <p:nvPr/>
        </p:nvSpPr>
        <p:spPr>
          <a:xfrm>
            <a:off x="1188720" y="5394960"/>
            <a:ext cx="69494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24" name="pill-dot"/>
          <p:cNvSpPr/>
          <p:nvPr/>
        </p:nvSpPr>
        <p:spPr>
          <a:xfrm>
            <a:off x="1280160" y="546811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280160" y="546811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737360" y="539496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luận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Vì sao chọn PostgreSQL?</a:t>
            </a:r>
            <a:endParaRPr lang="en-US" sz="2800" dirty="0"/>
          </a:p>
        </p:txBody>
      </p:sp>
      <p:sp>
        <p:nvSpPr>
          <p:cNvPr id="3" name="stat-bg"/>
          <p:cNvSpPr/>
          <p:nvPr/>
        </p:nvSpPr>
        <p:spPr>
          <a:xfrm>
            <a:off x="731520" y="1463040"/>
            <a:ext cx="19202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4" name="stat-num"/>
          <p:cNvSpPr txBox="1"/>
          <p:nvPr/>
        </p:nvSpPr>
        <p:spPr>
          <a:xfrm>
            <a:off x="731520" y="153619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1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</a:t>
            </a:r>
            <a:endParaRPr lang="en-US" sz="3200" dirty="0"/>
          </a:p>
        </p:txBody>
      </p:sp>
      <p:sp>
        <p:nvSpPr>
          <p:cNvPr id="5" name="stat-label"/>
          <p:cNvSpPr txBox="1"/>
          <p:nvPr/>
        </p:nvSpPr>
        <p:spPr>
          <a:xfrm>
            <a:off x="822960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DB-Engines (sau Oracle,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MySQL, SQL Server)</a:t>
            </a:r>
            <a:endParaRPr lang="en-US" sz="1200" dirty="0"/>
          </a:p>
        </p:txBody>
      </p:sp>
      <p:sp>
        <p:nvSpPr>
          <p:cNvPr id="6" name="stat-bg"/>
          <p:cNvSpPr/>
          <p:nvPr/>
        </p:nvSpPr>
        <p:spPr>
          <a:xfrm>
            <a:off x="2807208" y="1463040"/>
            <a:ext cx="19202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7" name="stat-num"/>
          <p:cNvSpPr txBox="1"/>
          <p:nvPr/>
        </p:nvSpPr>
        <p:spPr>
          <a:xfrm>
            <a:off x="2807208" y="153619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+21,97</a:t>
            </a:r>
            <a:endParaRPr lang="en-US" sz="3200" dirty="0"/>
          </a:p>
        </p:txBody>
      </p:sp>
      <p:sp>
        <p:nvSpPr>
          <p:cNvPr id="8" name="stat-label"/>
          <p:cNvSpPr txBox="1"/>
          <p:nvPr/>
        </p:nvSpPr>
        <p:spPr>
          <a:xfrm>
            <a:off x="2898648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nửa đầu 2026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tăng mạnh nhất top 5</a:t>
            </a:r>
            <a:endParaRPr lang="en-US" sz="1200" dirty="0"/>
          </a:p>
        </p:txBody>
      </p:sp>
      <p:sp>
        <p:nvSpPr>
          <p:cNvPr id="9" name="stat-bg"/>
          <p:cNvSpPr/>
          <p:nvPr/>
        </p:nvSpPr>
        <p:spPr>
          <a:xfrm>
            <a:off x="4882896" y="1463040"/>
            <a:ext cx="19202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0" name="stat-num"/>
          <p:cNvSpPr txBox="1"/>
          <p:nvPr/>
        </p:nvSpPr>
        <p:spPr>
          <a:xfrm>
            <a:off x="4882896" y="153619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lần</a:t>
            </a:r>
            <a:endParaRPr lang="en-US" sz="3200" dirty="0"/>
          </a:p>
        </p:txBody>
      </p:sp>
      <p:sp>
        <p:nvSpPr>
          <p:cNvPr id="11" name="stat-label"/>
          <p:cNvSpPr txBox="1"/>
          <p:nvPr/>
        </p:nvSpPr>
        <p:spPr>
          <a:xfrm>
            <a:off x="4974336" y="22402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DBMS of the Year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 · 2018 · 2020 · 2023</a:t>
            </a:r>
            <a:endParaRPr lang="en-US" sz="1200" dirty="0"/>
          </a:p>
        </p:txBody>
      </p:sp>
      <p:sp>
        <p:nvSpPr>
          <p:cNvPr id="12" name="stat-bg"/>
          <p:cNvSpPr/>
          <p:nvPr/>
        </p:nvSpPr>
        <p:spPr>
          <a:xfrm>
            <a:off x="6958584" y="1463040"/>
            <a:ext cx="1911096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3" name="stat-num"/>
          <p:cNvSpPr txBox="1"/>
          <p:nvPr/>
        </p:nvSpPr>
        <p:spPr>
          <a:xfrm>
            <a:off x="6958584" y="1536192"/>
            <a:ext cx="1911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200" dirty="0"/>
          </a:p>
        </p:txBody>
      </p:sp>
      <p:sp>
        <p:nvSpPr>
          <p:cNvPr id="14" name="stat-label"/>
          <p:cNvSpPr txBox="1"/>
          <p:nvPr/>
        </p:nvSpPr>
        <p:spPr>
          <a:xfrm>
            <a:off x="7050024" y="2240280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mã nguồn mở, không có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Enterprise thu phí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1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CSDL quan hệ + đa mô hình trong một hệ thống</a:t>
            </a:r>
            <a:endParaRPr lang="en-US" sz="2000" dirty="0"/>
          </a:p>
        </p:txBody>
      </p:sp>
      <p:sp>
        <p:nvSpPr>
          <p:cNvPr id="16" name="bullets"/>
          <p:cNvSpPr txBox="1"/>
          <p:nvPr/>
        </p:nvSpPr>
        <p:spPr>
          <a:xfrm>
            <a:off x="731520" y="3611880"/>
            <a:ext cx="8138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JSONB, mảng, full-text search, pgvector… ngay trong SQL chuẩn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loại index: B-tree, Hash, GIN, GiST, SP-GiST, BRIN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Partition khai báo, materialized view, trigger, PL/pgSQL, LISTEN/NOTIFY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Nhiều nhóm cùng chọn PostgreSQL → nhóm 6 làm theo cách: mỗi tính năng gắn 1 nghiệp vụ thật và có số đo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đặc thù nghiệp vụ – 6 tính năng PostgreSQL</a:t>
            </a:r>
            <a:endParaRPr lang="en-US" sz="28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08760"/>
          <a:ext cx="81381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38328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Đặc thù bán trang sức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Tính năng PostgreSQL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6D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Mỗi loại trang sức có thuộc tính khác nhau (ni, carat, dài dây…)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A10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JSONB + GIN index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Khách gõ không dấu, sai chính tả vẫn phải tìm ra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A10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Full-text search + unaccent + pg_trgm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Gợi ý “sản phẩm giống” khi xem chi tiết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A10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pgvector + HNSW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Đơn hàng tăng mãi theo thời gian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A10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Partitioning theo tháng + BRIN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Tồn kho ít, 2 khách mua cùng lúc chiếc cuối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A10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Transaction + SELECT … FOR UPDATE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 Dashboard nhanh, báo hết hàng tức thì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A10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Materialized view + LISTEN/NOTIFY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Kiến trúc hệ thống</a:t>
            </a:r>
            <a:endParaRPr lang="en-US" sz="2800" dirty="0"/>
          </a:p>
        </p:txBody>
      </p:sp>
      <p:pic>
        <p:nvPicPr>
          <p:cNvPr id="3" name="architecture.jpg" descr="/home/claude/jewelry-shop-postgres/docs/img/architectu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17320"/>
            <a:ext cx="8138160" cy="1920240"/>
          </a:xfrm>
          <a:prstGeom prst="rect">
            <a:avLst/>
          </a:prstGeom>
        </p:spPr>
      </p:pic>
      <p:sp>
        <p:nvSpPr>
          <p:cNvPr id="4" name="bullets"/>
          <p:cNvSpPr txBox="1"/>
          <p:nvPr/>
        </p:nvSpPr>
        <p:spPr>
          <a:xfrm>
            <a:off x="731520" y="3520440"/>
            <a:ext cx="8138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16 + pgvector · Node.js + Fastify, SQL thuần (không ORM) · Next.js 15 (khách + admin)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quan trọng nằm trong CSDL: hàm place_order(), cancel_order(), trigger NOTIFY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file migration SQL; trình chạy migration tự viết 60 dòng, mỗi file = 1 transaction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up → db + api + web; npm run seed:big → 1 triệu đơn, npm run bench → báo cáo đo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Thiết kế CSDL: 8 bảng</a:t>
            </a:r>
            <a:endParaRPr lang="en-US" sz="2800" dirty="0"/>
          </a:p>
        </p:txBody>
      </p:sp>
      <p:pic>
        <p:nvPicPr>
          <p:cNvPr id="3" name="erd.jpg" descr="/home/claude/jewelry-shop-postgres/docs/img/er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371600"/>
            <a:ext cx="8138160" cy="4572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60350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Cột tô màu = nơi áp dụng tính năng đặc biệt của PostgreSQL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JSONB – thuộc tính sản phẩm linh hoạt</a:t>
            </a:r>
            <a:endParaRPr lang="en-US" sz="2800" dirty="0"/>
          </a:p>
        </p:txBody>
      </p:sp>
      <p:sp>
        <p:nvSpPr>
          <p:cNvPr id="3" name="code-bg"/>
          <p:cNvSpPr/>
          <p:nvPr/>
        </p:nvSpPr>
        <p:spPr>
          <a:xfrm>
            <a:off x="731520" y="1417320"/>
            <a:ext cx="5120640" cy="3657600"/>
          </a:xfrm>
          <a:prstGeom prst="rect">
            <a:avLst/>
          </a:prstGeom>
          <a:solidFill>
            <a:srgbClr val="F4F4F4"/>
          </a:solidFill>
          <a:ln w="9525">
            <a:solidFill>
              <a:srgbClr val="BBBBBB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841248" y="1490472"/>
            <a:ext cx="490118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attributes JSONB NOT NULL DEFAULT '{}'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idx_products_attributes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products USING GIN (attributes jsonb_path_ops);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Nhẫn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{"metal":"Vàng trắng 18K","ring_size":12,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"stone":"Kim cương","carat":0.5}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Dây chuyền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{"metal":"Vàng 24K","length_cm":50}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Lọc: 1 câu SQL cho mọi tổ hợp thuộc tính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attributes @&gt;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'{"metal":"Vàng 18K","stone":"Kim cương"}'</a:t>
            </a:r>
            <a:endParaRPr lang="en-US" sz="1300" dirty="0"/>
          </a:p>
        </p:txBody>
      </p:sp>
      <p:sp>
        <p:nvSpPr>
          <p:cNvPr id="5" name="stat-bg"/>
          <p:cNvSpPr/>
          <p:nvPr/>
        </p:nvSpPr>
        <p:spPr>
          <a:xfrm>
            <a:off x="6035040" y="1417320"/>
            <a:ext cx="28346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6" name="stat-num"/>
          <p:cNvSpPr txBox="1"/>
          <p:nvPr/>
        </p:nvSpPr>
        <p:spPr>
          <a:xfrm>
            <a:off x="6035040" y="14904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1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34×</a:t>
            </a:r>
            <a:endParaRPr lang="en-US" sz="3200" dirty="0"/>
          </a:p>
        </p:txBody>
      </p:sp>
      <p:sp>
        <p:nvSpPr>
          <p:cNvPr id="7" name="stat-label"/>
          <p:cNvSpPr txBox="1"/>
          <p:nvPr/>
        </p:nvSpPr>
        <p:spPr>
          <a:xfrm>
            <a:off x="6126480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nhanh hơn quét tuần tự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0,06 ms so với 2,1 ms</a:t>
            </a:r>
            <a:endParaRPr lang="en-US" sz="1200" dirty="0"/>
          </a:p>
        </p:txBody>
      </p:sp>
      <p:sp>
        <p:nvSpPr>
          <p:cNvPr id="8" name="bullets"/>
          <p:cNvSpPr txBox="1"/>
          <p:nvPr/>
        </p:nvSpPr>
        <p:spPr>
          <a:xfrm>
            <a:off x="6035040" y="2926080"/>
            <a:ext cx="283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ALTER TABLE khi thêm loại trang sức mới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thêm/xoá thuộc tính ngay trên giao diện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Bộ lọc bên trái cũng sinh từ JSONB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2120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Planner: Bitmap Index Scan on idx_products_attributes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Full-text search tiếng Việt</a:t>
            </a:r>
            <a:endParaRPr lang="en-US" sz="2800" dirty="0"/>
          </a:p>
        </p:txBody>
      </p:sp>
      <p:sp>
        <p:nvSpPr>
          <p:cNvPr id="3" name="code-bg"/>
          <p:cNvSpPr/>
          <p:nvPr/>
        </p:nvSpPr>
        <p:spPr>
          <a:xfrm>
            <a:off x="731520" y="1417320"/>
            <a:ext cx="5120640" cy="3291840"/>
          </a:xfrm>
          <a:prstGeom prst="rect">
            <a:avLst/>
          </a:prstGeom>
          <a:solidFill>
            <a:srgbClr val="F4F4F4"/>
          </a:solidFill>
          <a:ln w="9525">
            <a:solidFill>
              <a:srgbClr val="BBBBBB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841248" y="1490472"/>
            <a:ext cx="4901184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Hàm bỏ dấu, IMMUTABLE để dùng trong index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FUNCTION vi_unaccent(text) ... IMMUTABLE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 $$ SELECT lower(unaccent($1)) $$;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tsvector sinh tự động (generated column)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search_vec TSVECTOR GENERATED ALWAYS AS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to_tsvector('simple', vi_unaccent(name)) ...) STORED;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... USING GIN (search_vec);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... USING GIN (vi_unaccent(name) gin_trgm_ops);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Tầng 1: search_vec @@ plainto_tsquery(vi_unaccent($1))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Tầng 2: vi_unaccent(name) % 'nhan kim cuog solitare'</a:t>
            </a:r>
            <a:endParaRPr lang="en-US" sz="1200" dirty="0"/>
          </a:p>
        </p:txBody>
      </p:sp>
      <p:pic>
        <p:nvPicPr>
          <p:cNvPr id="5" name="05-tim-kiem-trigram.jpg" descr="/home/claude/jewelry-shop-postgres/docs/img/05-tim-kiem-trigra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1417320"/>
            <a:ext cx="2834640" cy="1783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035040" y="32461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“nhan kim cuog solitare” → Nhẫn kim cương vàng 18K Solitaire (trigram 0,44)</a:t>
            </a:r>
            <a:endParaRPr lang="en-US" sz="1200" dirty="0"/>
          </a:p>
        </p:txBody>
      </p:sp>
      <p:sp>
        <p:nvSpPr>
          <p:cNvPr id="7" name="stat-bg"/>
          <p:cNvSpPr/>
          <p:nvPr/>
        </p:nvSpPr>
        <p:spPr>
          <a:xfrm>
            <a:off x="6035040" y="4160520"/>
            <a:ext cx="28346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8" name="stat-num"/>
          <p:cNvSpPr txBox="1"/>
          <p:nvPr/>
        </p:nvSpPr>
        <p:spPr>
          <a:xfrm>
            <a:off x="6035040" y="42336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1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9,6×</a:t>
            </a:r>
            <a:endParaRPr lang="en-US" sz="3200" dirty="0"/>
          </a:p>
        </p:txBody>
      </p:sp>
      <p:sp>
        <p:nvSpPr>
          <p:cNvPr id="9" name="stat-label"/>
          <p:cNvSpPr txBox="1"/>
          <p:nvPr/>
        </p:nvSpPr>
        <p:spPr>
          <a:xfrm>
            <a:off x="6126480" y="49377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FTS có GIN so với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tuần tự</a:t>
            </a:r>
            <a:endParaRPr lang="en-US" sz="12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484632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dấu / có dấu đều khớp, xếp hạng ts_rank, tô đậm ts_headline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Gõ sai chính tả → tự chuyển sang trigram (pg_trgm)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 khi gõ bằng prefix search  nha:* &amp; kim:*  — không cần Elasticsearch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pgvector – gợi ý sản phẩm tương tự</a:t>
            </a:r>
            <a:endParaRPr lang="en-US" sz="2800" dirty="0"/>
          </a:p>
        </p:txBody>
      </p:sp>
      <p:sp>
        <p:nvSpPr>
          <p:cNvPr id="3" name="code-bg"/>
          <p:cNvSpPr/>
          <p:nvPr/>
        </p:nvSpPr>
        <p:spPr>
          <a:xfrm>
            <a:off x="731520" y="1417320"/>
            <a:ext cx="5120640" cy="2743200"/>
          </a:xfrm>
          <a:prstGeom prst="rect">
            <a:avLst/>
          </a:prstGeom>
          <a:solidFill>
            <a:srgbClr val="F4F4F4"/>
          </a:solidFill>
          <a:ln w="9525">
            <a:solidFill>
              <a:srgbClr val="BBBBBB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841248" y="1490472"/>
            <a:ext cx="4901184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embedding vector(256)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idx_products_embedding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products USING hnsw (embedding vector_cosine_ops);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-- 8 sản phẩm gần nhất, &lt;=&gt; = khoảng cách cosine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name,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1 - (p.embedding &lt;=&gt; me.embedding) AS sim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products p,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(SELECT embedding FROM products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WHERE slug = $1) me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p.embedding &lt;=&gt; me.embedding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 8;</a:t>
            </a:r>
            <a:endParaRPr lang="en-US" sz="1200" dirty="0"/>
          </a:p>
        </p:txBody>
      </p:sp>
      <p:pic>
        <p:nvPicPr>
          <p:cNvPr id="5" name="03-chi-tiet-pgvector.jpg" descr="/home/claude/jewelry-shop-postgres/docs/img/03-chi-tiet-pgvect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1417320"/>
            <a:ext cx="2834640" cy="365760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31520" y="429768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demo bằng feature hashing: tên + danh mục + thuộc tính JSONB → 256 chiều, không cần API ngoài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Thay bằng OpenAI / CLIP sau này chỉ đổi 1 hàm; schema và SQL giữ nguyên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HNSW: 0,23 ms so với 1,7 ms khi tính khoảng cách cho toàn bộ 3.033 vector (7,4×)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Partitioning theo tháng + BRIN</a:t>
            </a:r>
            <a:endParaRPr lang="en-US" sz="2800" dirty="0"/>
          </a:p>
        </p:txBody>
      </p:sp>
      <p:sp>
        <p:nvSpPr>
          <p:cNvPr id="3" name="code-bg"/>
          <p:cNvSpPr/>
          <p:nvPr/>
        </p:nvSpPr>
        <p:spPr>
          <a:xfrm>
            <a:off x="731520" y="1417320"/>
            <a:ext cx="5120640" cy="2377440"/>
          </a:xfrm>
          <a:prstGeom prst="rect">
            <a:avLst/>
          </a:prstGeom>
          <a:solidFill>
            <a:srgbClr val="F4F4F4"/>
          </a:solidFill>
          <a:ln w="9525">
            <a:solidFill>
              <a:srgbClr val="BBBBBB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841248" y="1490472"/>
            <a:ext cx="4901184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orders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BIGSERIAL, created_at TIMESTAMPTZ NOT NULL,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(id, created_at)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PARTITION BY RANGE (created_at);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orders_2026_10 PARTITION OF orders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VALUES FROM ('2026-10-01') TO ('2026-11-01');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... ON orders USING BRIN (created_at);</a:t>
            </a:r>
            <a:endParaRPr lang="en-US" sz="1200" dirty="0"/>
          </a:p>
        </p:txBody>
      </p:sp>
      <p:sp>
        <p:nvSpPr>
          <p:cNvPr id="5" name="stat-bg"/>
          <p:cNvSpPr/>
          <p:nvPr/>
        </p:nvSpPr>
        <p:spPr>
          <a:xfrm>
            <a:off x="6035040" y="1417320"/>
            <a:ext cx="28346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6" name="stat-num"/>
          <p:cNvSpPr txBox="1"/>
          <p:nvPr/>
        </p:nvSpPr>
        <p:spPr>
          <a:xfrm>
            <a:off x="6035040" y="14904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37</a:t>
            </a:r>
            <a:endParaRPr lang="en-US" sz="3200" dirty="0"/>
          </a:p>
        </p:txBody>
      </p:sp>
      <p:sp>
        <p:nvSpPr>
          <p:cNvPr id="7" name="stat-label"/>
          <p:cNvSpPr txBox="1"/>
          <p:nvPr/>
        </p:nvSpPr>
        <p:spPr>
          <a:xfrm>
            <a:off x="6126480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partition được quét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triệu đơn) nhờ pruning</a:t>
            </a:r>
            <a:endParaRPr lang="en-US" sz="1200" dirty="0"/>
          </a:p>
        </p:txBody>
      </p:sp>
      <p:sp>
        <p:nvSpPr>
          <p:cNvPr id="8" name="stat-bg"/>
          <p:cNvSpPr/>
          <p:nvPr/>
        </p:nvSpPr>
        <p:spPr>
          <a:xfrm>
            <a:off x="6035040" y="2880360"/>
            <a:ext cx="283464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9" name="stat-num"/>
          <p:cNvSpPr txBox="1"/>
          <p:nvPr/>
        </p:nvSpPr>
        <p:spPr>
          <a:xfrm>
            <a:off x="6035040" y="29535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888 kB</a:t>
            </a:r>
            <a:endParaRPr lang="en-US" sz="3200" dirty="0"/>
          </a:p>
        </p:txBody>
      </p:sp>
      <p:sp>
        <p:nvSpPr>
          <p:cNvPr id="10" name="stat-label"/>
          <p:cNvSpPr txBox="1"/>
          <p:nvPr/>
        </p:nvSpPr>
        <p:spPr>
          <a:xfrm>
            <a:off x="6126480" y="36576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 so với 23 MB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B-tree cùng cột (26×)</a:t>
            </a:r>
            <a:endParaRPr lang="en-US" sz="1200" dirty="0"/>
          </a:p>
        </p:txBody>
      </p:sp>
      <p:pic>
        <p:nvPicPr>
          <p:cNvPr id="11" name="10-admin-benchmark-explain.jpg" descr="/home/claude/jewelry-shop-postgres/docs/img/10-admin-benchmark-explai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3931920"/>
            <a:ext cx="5120640" cy="1920240"/>
          </a:xfrm>
          <a:prstGeom prst="rect">
            <a:avLst/>
          </a:prstGeom>
        </p:spPr>
      </p:pic>
      <p:sp>
        <p:nvSpPr>
          <p:cNvPr id="12" name="bullets"/>
          <p:cNvSpPr txBox="1"/>
          <p:nvPr/>
        </p:nvSpPr>
        <p:spPr>
          <a:xfrm>
            <a:off x="6035040" y="434340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Doanh thu 2 tuần: 3,3 ms so với 66 ms (20×)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Lưu trữ đơn cũ = DETACH 1 partition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Tháng mới: ensure_orders_partition()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Transaction + FOR UPDATE – chống bán quá kho</a:t>
            </a:r>
            <a:endParaRPr lang="en-US" sz="2800" dirty="0"/>
          </a:p>
        </p:txBody>
      </p:sp>
      <p:pic>
        <p:nvPicPr>
          <p:cNvPr id="3" name="order_flow.jpg" descr="/home/claude/jewelry-shop-postgres/docs/img/order_flo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371600"/>
            <a:ext cx="2743200" cy="5029200"/>
          </a:xfrm>
          <a:prstGeom prst="rect">
            <a:avLst/>
          </a:prstGeom>
        </p:spPr>
      </p:pic>
      <p:sp>
        <p:nvSpPr>
          <p:cNvPr id="4" name="code-bg"/>
          <p:cNvSpPr/>
          <p:nvPr/>
        </p:nvSpPr>
        <p:spPr>
          <a:xfrm>
            <a:off x="3657600" y="1371600"/>
            <a:ext cx="5212080" cy="3246120"/>
          </a:xfrm>
          <a:prstGeom prst="rect">
            <a:avLst/>
          </a:prstGeom>
          <a:solidFill>
            <a:srgbClr val="F4F4F4"/>
          </a:solidFill>
          <a:ln w="9525">
            <a:solidFill>
              <a:srgbClr val="BBBBBB"/>
            </a:solidFill>
            <a:prstDash val="solid"/>
          </a:ln>
        </p:spPr>
      </p:sp>
      <p:sp>
        <p:nvSpPr>
          <p:cNvPr id="5" name="code"/>
          <p:cNvSpPr txBox="1"/>
          <p:nvPr/>
        </p:nvSpPr>
        <p:spPr>
          <a:xfrm>
            <a:off x="3767328" y="1444752"/>
            <a:ext cx="4992624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place_order(): 1 hàm PL/pgSQL = 1 transaction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r 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p.id, p.name, p.stock, i.qty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jsonb_to_recordset(p_items)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JOIN products p ON p.id = i.product_id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 BY p.id    -- khoá cùng thứ tự, tránh deadlock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UPDATE OF p  -- giao dịch 2 phải CHỜ giao dịch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r.stock &lt; r.qty THEN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RAISE EXCEPTION 'OUT_OF_STOCK: % chỉ còn %', ...;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 IF;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LOOP;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INSERT orders, order_items; UPDATE stock;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CHECK (stock &gt;= 0) là hàng rào cuối cùng</a:t>
            </a:r>
            <a:endParaRPr lang="en-US" sz="1200" dirty="0"/>
          </a:p>
        </p:txBody>
      </p:sp>
      <p:sp>
        <p:nvSpPr>
          <p:cNvPr id="6" name="stat-bg"/>
          <p:cNvSpPr/>
          <p:nvPr/>
        </p:nvSpPr>
        <p:spPr>
          <a:xfrm>
            <a:off x="3657600" y="4846320"/>
            <a:ext cx="251460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7" name="stat-num"/>
          <p:cNvSpPr txBox="1"/>
          <p:nvPr/>
        </p:nvSpPr>
        <p:spPr>
          <a:xfrm>
            <a:off x="3657600" y="491947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1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50</a:t>
            </a:r>
            <a:endParaRPr lang="en-US" sz="3200" dirty="0"/>
          </a:p>
        </p:txBody>
      </p:sp>
      <p:sp>
        <p:nvSpPr>
          <p:cNvPr id="8" name="stat-label"/>
          <p:cNvSpPr txBox="1"/>
          <p:nvPr/>
        </p:nvSpPr>
        <p:spPr>
          <a:xfrm>
            <a:off x="3749040" y="56235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mua được khi kho = 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client bị OUT_OF_STOCK</a:t>
            </a:r>
            <a:endParaRPr lang="en-US" sz="1200" dirty="0"/>
          </a:p>
        </p:txBody>
      </p:sp>
      <p:sp>
        <p:nvSpPr>
          <p:cNvPr id="9" name="stat-bg"/>
          <p:cNvSpPr/>
          <p:nvPr/>
        </p:nvSpPr>
        <p:spPr>
          <a:xfrm>
            <a:off x="6355080" y="4846320"/>
            <a:ext cx="251460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0" name="stat-num"/>
          <p:cNvSpPr txBox="1"/>
          <p:nvPr/>
        </p:nvSpPr>
        <p:spPr>
          <a:xfrm>
            <a:off x="6355080" y="491947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1.090</a:t>
            </a:r>
            <a:endParaRPr lang="en-US" sz="3200" dirty="0"/>
          </a:p>
        </p:txBody>
      </p:sp>
      <p:sp>
        <p:nvSpPr>
          <p:cNvPr id="11" name="stat-label"/>
          <p:cNvSpPr txBox="1"/>
          <p:nvPr/>
        </p:nvSpPr>
        <p:spPr>
          <a:xfrm>
            <a:off x="6446520" y="56235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/ giây với 30 client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CSDL 1 triệu đơn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 Materialized view + LISTEN/NOTIFY</a:t>
            </a:r>
            <a:endParaRPr lang="en-US" sz="2800" dirty="0"/>
          </a:p>
        </p:txBody>
      </p:sp>
      <p:sp>
        <p:nvSpPr>
          <p:cNvPr id="3" name="code-bg"/>
          <p:cNvSpPr/>
          <p:nvPr/>
        </p:nvSpPr>
        <p:spPr>
          <a:xfrm>
            <a:off x="731520" y="1417320"/>
            <a:ext cx="5120640" cy="2286000"/>
          </a:xfrm>
          <a:prstGeom prst="rect">
            <a:avLst/>
          </a:prstGeom>
          <a:solidFill>
            <a:srgbClr val="F4F4F4"/>
          </a:solidFill>
          <a:ln w="9525">
            <a:solidFill>
              <a:srgbClr val="BBBBBB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841248" y="1490472"/>
            <a:ext cx="4901184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MATERIALIZED VIEW mv_sales_daily AS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date_trunc('day', created_at)::date AS day,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count(*) AS orders, sum(total) AS revenue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UNIQUE INDEX ON mv_sales_daily (day);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REFRESH MATERIALIZED VIEW CONCURRENTLY mv_sales_daily;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Trigger: stock &lt; 3 → pg_notify('low_stock', json)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Node.js: LISTEN low_stock → SSE → trình duyệt admin</a:t>
            </a:r>
            <a:endParaRPr lang="en-US" sz="1200" dirty="0"/>
          </a:p>
        </p:txBody>
      </p:sp>
      <p:pic>
        <p:nvPicPr>
          <p:cNvPr id="5" name="13-admin-notify-sse.jpg" descr="/home/claude/jewelry-shop-postgres/docs/img/13-admin-notify-ss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1417320"/>
            <a:ext cx="2834640" cy="1737360"/>
          </a:xfrm>
          <a:prstGeom prst="rect">
            <a:avLst/>
          </a:prstGeom>
        </p:spPr>
      </p:pic>
      <p:sp>
        <p:nvSpPr>
          <p:cNvPr id="6" name="stat-bg"/>
          <p:cNvSpPr/>
          <p:nvPr/>
        </p:nvSpPr>
        <p:spPr>
          <a:xfrm>
            <a:off x="731520" y="3886200"/>
            <a:ext cx="246888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7" name="stat-num"/>
          <p:cNvSpPr txBox="1"/>
          <p:nvPr/>
        </p:nvSpPr>
        <p:spPr>
          <a:xfrm>
            <a:off x="731520" y="395935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1.000×</a:t>
            </a:r>
            <a:endParaRPr lang="en-US" sz="3200" dirty="0"/>
          </a:p>
        </p:txBody>
      </p:sp>
      <p:sp>
        <p:nvSpPr>
          <p:cNvPr id="8" name="stat-label"/>
          <p:cNvSpPr txBox="1"/>
          <p:nvPr/>
        </p:nvSpPr>
        <p:spPr>
          <a:xfrm>
            <a:off x="822960" y="46634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doanh thu 30 ngày: 0,018 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19 ms tính trực tiếp</a:t>
            </a:r>
            <a:endParaRPr lang="en-US" sz="1200" dirty="0"/>
          </a:p>
        </p:txBody>
      </p:sp>
      <p:sp>
        <p:nvSpPr>
          <p:cNvPr id="9" name="stat-bg"/>
          <p:cNvSpPr/>
          <p:nvPr/>
        </p:nvSpPr>
        <p:spPr>
          <a:xfrm>
            <a:off x="3383280" y="3886200"/>
            <a:ext cx="246888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10" name="stat-num"/>
          <p:cNvSpPr txBox="1"/>
          <p:nvPr/>
        </p:nvSpPr>
        <p:spPr>
          <a:xfrm>
            <a:off x="3383280" y="395935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0,1 s</a:t>
            </a:r>
            <a:endParaRPr lang="en-US" sz="3200" dirty="0"/>
          </a:p>
        </p:txBody>
      </p:sp>
      <p:sp>
        <p:nvSpPr>
          <p:cNvPr id="11" name="stat-label"/>
          <p:cNvSpPr txBox="1"/>
          <p:nvPr/>
        </p:nvSpPr>
        <p:spPr>
          <a:xfrm>
            <a:off x="3474720" y="46634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 báo tới admin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F5, không Redis</a:t>
            </a:r>
            <a:endParaRPr lang="en-US" sz="1200" dirty="0"/>
          </a:p>
        </p:txBody>
      </p:sp>
      <p:pic>
        <p:nvPicPr>
          <p:cNvPr id="12" name="07-admin-dashboard.jpg" descr="/home/claude/jewelry-shop-postgres/docs/img/07-admin-dashboard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35040" y="3291840"/>
            <a:ext cx="2834640" cy="3108960"/>
          </a:xfrm>
          <a:prstGeom prst="rect">
            <a:avLst/>
          </a:prstGeom>
        </p:spPr>
      </p:pic>
      <p:sp>
        <p:nvSpPr>
          <p:cNvPr id="13" name="bullets"/>
          <p:cNvSpPr txBox="1"/>
          <p:nvPr/>
        </p:nvSpPr>
        <p:spPr>
          <a:xfrm>
            <a:off x="731520" y="539496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CONCURRENTLY: không chặn người đọc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liệu “hôm nay” tính trực tiếp trên partition tháng này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Các loại index đặc biệt khác</a:t>
            </a:r>
            <a:endParaRPr lang="en-US" sz="28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08760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6616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Trong hệ thống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6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Lợi ích đo được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6D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 index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orders (created_at) WHERE status IN (pending, confirmed)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 ms so với 98 ms trên 1 triệu đơn (480×)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Covering index (INCLUDE)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orders (customer_id, created_at) INCLUDE (id, status, total)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Index Only Scan, Heap Fetches = 0; 250×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Expression index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customers (lower(email))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Tìm email không phân biệt hoa thường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Generated column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total = subtotal + shipping_fee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search_vec = to_tsvector(...)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CSDL tự tính, app không ghi sai được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GIN / HNSW / BRIN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JSONB, tsvector, trigram, vector, thời gian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2,6× – 34× so với quét tuần tự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1520" y="57607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index gắn với đúng 1 truy vấn của ứng dụng — theo dõi lượt dùng bằng pg_stat_user_indexes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Ứng dụng: trang bán hàng và trang quản trị</a:t>
            </a:r>
            <a:endParaRPr lang="en-US" sz="2800" dirty="0"/>
          </a:p>
        </p:txBody>
      </p:sp>
      <p:pic>
        <p:nvPicPr>
          <p:cNvPr id="3" name="01-trang-chu.jpg" descr="/home/claude/jewelry-shop-postgres/docs/img/01-trang-ch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17320"/>
            <a:ext cx="2606040" cy="3291840"/>
          </a:xfrm>
          <a:prstGeom prst="rect">
            <a:avLst/>
          </a:prstGeom>
        </p:spPr>
      </p:pic>
      <p:pic>
        <p:nvPicPr>
          <p:cNvPr id="4" name="02-danh-sach-loc-jsonb.jpg" descr="/home/claude/jewelry-shop-postgres/docs/img/02-danh-sach-loc-jsonb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93008" y="1417320"/>
            <a:ext cx="2606040" cy="3291840"/>
          </a:xfrm>
          <a:prstGeom prst="rect">
            <a:avLst/>
          </a:prstGeom>
        </p:spPr>
      </p:pic>
      <p:pic>
        <p:nvPicPr>
          <p:cNvPr id="5" name="09-admin-san-pham-jsonb.jpg" descr="/home/claude/jewelry-shop-postgres/docs/img/09-admin-san-pham-jsonb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54496" y="1417320"/>
            <a:ext cx="2615184" cy="329184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731520" y="48006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chủ  ·  Lọc JSONB  ·  Admin: sửa thuộc tính &amp; nhập kho</a:t>
            </a:r>
            <a:endParaRPr lang="en-US" sz="1400" dirty="0"/>
          </a:p>
        </p:txBody>
      </p:sp>
      <p:sp>
        <p:nvSpPr>
          <p:cNvPr id="7" name="bullets"/>
          <p:cNvSpPr txBox="1"/>
          <p:nvPr/>
        </p:nvSpPr>
        <p:spPr>
          <a:xfrm>
            <a:off x="731520" y="5303520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trực tiếp: tìm kiếm không dấu / sai chính tả, đặt hàng chiếc cuối từ 2 trình duyệt, cảnh báo real-time, trang Monitor &amp; Benchmark chạy EXPLAIN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trực tiếp bằng DBeaver</a:t>
            </a:r>
            <a:endParaRPr lang="en-US" sz="2800" dirty="0"/>
          </a:p>
        </p:txBody>
      </p:sp>
      <p:sp>
        <p:nvSpPr>
          <p:cNvPr id="3" name="pill"/>
          <p:cNvSpPr/>
          <p:nvPr/>
        </p:nvSpPr>
        <p:spPr>
          <a:xfrm>
            <a:off x="731520" y="1463040"/>
            <a:ext cx="813816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4" name="pill-dot"/>
          <p:cNvSpPr/>
          <p:nvPr/>
        </p:nvSpPr>
        <p:spPr>
          <a:xfrm>
            <a:off x="822960" y="153619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3619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463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JSONB: lọc attributes @&gt; {metal, stone} → GIN index</a:t>
            </a:r>
            <a:endParaRPr lang="en-US" sz="1500" dirty="0"/>
          </a:p>
        </p:txBody>
      </p:sp>
      <p:sp>
        <p:nvSpPr>
          <p:cNvPr id="7" name="pill"/>
          <p:cNvSpPr/>
          <p:nvPr/>
        </p:nvSpPr>
        <p:spPr>
          <a:xfrm>
            <a:off x="731520" y="2103120"/>
            <a:ext cx="813816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8" name="pill-dot"/>
          <p:cNvSpPr/>
          <p:nvPr/>
        </p:nvSpPr>
        <p:spPr>
          <a:xfrm>
            <a:off x="822960" y="217627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7627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10312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Full-text: "nhan kim cuong 18k" · trigram: "nhan kim cuog solitare"</a:t>
            </a:r>
            <a:endParaRPr lang="en-US" sz="1500" dirty="0"/>
          </a:p>
        </p:txBody>
      </p:sp>
      <p:sp>
        <p:nvSpPr>
          <p:cNvPr id="11" name="pill"/>
          <p:cNvSpPr/>
          <p:nvPr/>
        </p:nvSpPr>
        <p:spPr>
          <a:xfrm>
            <a:off x="731520" y="2743200"/>
            <a:ext cx="813816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12" name="pill-dot"/>
          <p:cNvSpPr/>
          <p:nvPr/>
        </p:nvSpPr>
        <p:spPr>
          <a:xfrm>
            <a:off x="822960" y="281635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28163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7432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pgvector: 8 sản phẩm giống nhẫn NK-001, ORDER BY embedding &lt;=&gt; …</a:t>
            </a:r>
            <a:endParaRPr lang="en-US" sz="1500" dirty="0"/>
          </a:p>
        </p:txBody>
      </p:sp>
      <p:sp>
        <p:nvSpPr>
          <p:cNvPr id="15" name="pill"/>
          <p:cNvSpPr/>
          <p:nvPr/>
        </p:nvSpPr>
        <p:spPr>
          <a:xfrm>
            <a:off x="731520" y="3383280"/>
            <a:ext cx="813816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16" name="pill-dot"/>
          <p:cNvSpPr/>
          <p:nvPr/>
        </p:nvSpPr>
        <p:spPr>
          <a:xfrm>
            <a:off x="822960" y="345643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45643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33832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Partition: EXPLAIN chỉ quét 1/37 partition; BRIN 888 kB vs B-tree 23 MB</a:t>
            </a:r>
            <a:endParaRPr lang="en-US" sz="1500" dirty="0"/>
          </a:p>
        </p:txBody>
      </p:sp>
      <p:sp>
        <p:nvSpPr>
          <p:cNvPr id="19" name="pill"/>
          <p:cNvSpPr/>
          <p:nvPr/>
        </p:nvSpPr>
        <p:spPr>
          <a:xfrm>
            <a:off x="731520" y="4023360"/>
            <a:ext cx="813816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20" name="pill-dot"/>
          <p:cNvSpPr/>
          <p:nvPr/>
        </p:nvSpPr>
        <p:spPr>
          <a:xfrm>
            <a:off x="822960" y="409651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09651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02336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place_order() 2 lần trên chiếc cuối → lần 2 báo OUT_OF_STOCK</a:t>
            </a:r>
            <a:endParaRPr lang="en-US" sz="1500" dirty="0"/>
          </a:p>
        </p:txBody>
      </p:sp>
      <p:sp>
        <p:nvSpPr>
          <p:cNvPr id="23" name="pill"/>
          <p:cNvSpPr/>
          <p:nvPr/>
        </p:nvSpPr>
        <p:spPr>
          <a:xfrm>
            <a:off x="731520" y="4663440"/>
            <a:ext cx="813816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2A10B4"/>
            </a:solidFill>
            <a:prstDash val="solid"/>
          </a:ln>
          <a:effectLst>
            <a:outerShdw sx="100000" sy="100000" kx="0" ky="0" algn="bl" rotWithShape="0" blurRad="38100" dist="25400" dir="2700000">
              <a:srgbClr val="000000">
                <a:alpha val="25000"/>
              </a:srgbClr>
            </a:outerShdw>
          </a:effectLst>
        </p:spPr>
      </p:sp>
      <p:sp>
        <p:nvSpPr>
          <p:cNvPr id="24" name="pill-dot"/>
          <p:cNvSpPr/>
          <p:nvPr/>
        </p:nvSpPr>
        <p:spPr>
          <a:xfrm>
            <a:off x="822960" y="4736592"/>
            <a:ext cx="356616" cy="356616"/>
          </a:xfrm>
          <a:prstGeom prst="ellipse">
            <a:avLst/>
          </a:prstGeom>
          <a:solidFill>
            <a:srgbClr val="2A10B4"/>
          </a:solidFill>
          <a:ln w="12700">
            <a:solidFill>
              <a:srgbClr val="2A10B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473659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4663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mv_top_products 0,02 ms vs JOIN 1,5 triệu dòng 1,1 s; UPDATE stock → NOTIFY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486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nối: localhost:5432 · db jewelry · postgres / postgres  —  mở file, chọn khối lệnh, Cmd+Enter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8978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Web: localhost:3000  ·  Admin → Monitor &amp; Benchmark: EXPLAIN có/không index ngay trên giao diện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Benchmark: có index nhanh hơn bao nhiêu?</a:t>
            </a:r>
            <a:endParaRPr lang="en-US" sz="2800" dirty="0"/>
          </a:p>
        </p:txBody>
      </p:sp>
      <p:graphicFrame>
        <p:nvGraphicFramePr>
          <p:cNvPr id="3" name="speedup-chart" descr=""/>
          <p:cNvGraphicFramePr/>
          <p:nvPr/>
        </p:nvGraphicFramePr>
        <p:xfrm>
          <a:off x="731520" y="1371600"/>
          <a:ext cx="52120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tat-bg"/>
          <p:cNvSpPr/>
          <p:nvPr/>
        </p:nvSpPr>
        <p:spPr>
          <a:xfrm>
            <a:off x="6126480" y="1417320"/>
            <a:ext cx="274320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5" name="stat-num"/>
          <p:cNvSpPr txBox="1"/>
          <p:nvPr/>
        </p:nvSpPr>
        <p:spPr>
          <a:xfrm>
            <a:off x="6126480" y="149047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triệu</a:t>
            </a:r>
            <a:endParaRPr lang="en-US" sz="3200" dirty="0"/>
          </a:p>
        </p:txBody>
      </p:sp>
      <p:sp>
        <p:nvSpPr>
          <p:cNvPr id="6" name="stat-label"/>
          <p:cNvSpPr txBox="1"/>
          <p:nvPr/>
        </p:nvSpPr>
        <p:spPr>
          <a:xfrm>
            <a:off x="6217920" y="2194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hàng / 37 partition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seed:big</a:t>
            </a:r>
            <a:endParaRPr lang="en-US" sz="1200" dirty="0"/>
          </a:p>
        </p:txBody>
      </p:sp>
      <p:sp>
        <p:nvSpPr>
          <p:cNvPr id="7" name="stat-bg"/>
          <p:cNvSpPr/>
          <p:nvPr/>
        </p:nvSpPr>
        <p:spPr>
          <a:xfrm>
            <a:off x="6126480" y="2880360"/>
            <a:ext cx="2743200" cy="1325880"/>
          </a:xfrm>
          <a:prstGeom prst="rect">
            <a:avLst/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8" name="stat-num"/>
          <p:cNvSpPr txBox="1"/>
          <p:nvPr/>
        </p:nvSpPr>
        <p:spPr>
          <a:xfrm>
            <a:off x="6126480" y="295351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1.090</a:t>
            </a:r>
            <a:endParaRPr lang="en-US" sz="3200" dirty="0"/>
          </a:p>
        </p:txBody>
      </p:sp>
      <p:sp>
        <p:nvSpPr>
          <p:cNvPr id="9" name="stat-label"/>
          <p:cNvSpPr txBox="1"/>
          <p:nvPr/>
        </p:nvSpPr>
        <p:spPr>
          <a:xfrm>
            <a:off x="6217920" y="36576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hàng / giây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client đồng thời</a:t>
            </a:r>
            <a:endParaRPr lang="en-US" sz="1200" dirty="0"/>
          </a:p>
        </p:txBody>
      </p:sp>
      <p:sp>
        <p:nvSpPr>
          <p:cNvPr id="10" name="bullets"/>
          <p:cNvSpPr txBox="1"/>
          <p:nvPr/>
        </p:nvSpPr>
        <p:spPr>
          <a:xfrm>
            <a:off x="6126480" y="438912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đo npm run bench: 12 kịch bản × 5 lần, lấy trung vị, xuất Markdown/JSON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Giám sát: pg_stat_statements, trang Monitor trong admin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40080" y="45720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Kết luận</a:t>
            </a:r>
            <a:endParaRPr lang="en-US" sz="2800" dirty="0"/>
          </a:p>
        </p:txBody>
      </p:sp>
      <p:sp>
        <p:nvSpPr>
          <p:cNvPr id="3" name="bullets"/>
          <p:cNvSpPr txBox="1"/>
          <p:nvPr/>
        </p:nvSpPr>
        <p:spPr>
          <a:xfrm>
            <a:off x="731520" y="1508760"/>
            <a:ext cx="8138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= CSDL quan hệ + đa mô hình: một hệ thống thay cho search engine, cache, hàng đợi và vector DB</a:t>
            </a:r>
            <a:endParaRPr lang="en-US" sz="18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tính năng gắn 6 nghiệp vụ, đo trên 1 triệu đơn: nhanh hơn 2,6× – 1.000×; 50 client đồng thời không bán quá kho</a:t>
            </a:r>
            <a:endParaRPr lang="en-US" sz="18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chế: embedding feature hashing, chưa có từ điển tiếng Việt, chưa tinh chỉnh tham số PostgreSQL</a:t>
            </a:r>
            <a:endParaRPr lang="en-US" sz="18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Hướng phát triển: embedding CLIP theo ảnh, pg_cron tự tạo partition &amp; refresh, replication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4864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10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Cảm ơn cô và các bạn đã lắng nghe!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64922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UTECH">
  <a:themeElements>
    <a:clrScheme name="HUTECH">
      <a:dk1>
        <a:srgbClr val="1A1A1A"/>
      </a:dk1>
      <a:lt1>
        <a:srgbClr val="FFFFFF"/>
      </a:lt1>
      <a:dk2>
        <a:srgbClr val="2A10B4"/>
      </a:dk2>
      <a:lt2>
        <a:srgbClr val="EEF0FA"/>
      </a:lt2>
      <a:accent1>
        <a:srgbClr val="2A10B4"/>
      </a:accent1>
      <a:accent2>
        <a:srgbClr val="FFC000"/>
      </a:accent2>
      <a:accent3>
        <a:srgbClr val="1E8E3E"/>
      </a:accent3>
      <a:accent4>
        <a:srgbClr val="C62828"/>
      </a:accent4>
      <a:accent5>
        <a:srgbClr val="0B7285"/>
      </a:accent5>
      <a:accent6>
        <a:srgbClr val="666666"/>
      </a:accent6>
      <a:hlink>
        <a:srgbClr val="2A10B4"/>
      </a:hlink>
      <a:folHlink>
        <a:srgbClr val="666666"/>
      </a:folHlink>
    </a:clrScheme>
    <a:fontScheme name="HUTECH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bán hàng trang sức với PostgreSQL</dc:title>
  <dc:subject>PptxGenJS Presentation</dc:subject>
  <dc:creator>Nhóm 6</dc:creator>
  <cp:lastModifiedBy>Nhóm 6</cp:lastModifiedBy>
  <cp:revision>1</cp:revision>
  <dcterms:created xsi:type="dcterms:W3CDTF">2026-10-30T02:14:18Z</dcterms:created>
  <dcterms:modified xsi:type="dcterms:W3CDTF">2026-10-30T02:14:18Z</dcterms:modified>
</cp:coreProperties>
</file>